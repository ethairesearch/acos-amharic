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Illustrative Error-Compounding Chain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Stage-Isolated F1 (used as recall proxy)</c:v>
                </c:pt>
              </c:strCache>
            </c:strRef>
          </c:tx>
          <c:spPr>
            <a:solidFill>
              <a:srgbClr val="9FC7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Span
Extraction</c:v>
                  </c:pt>
                  <c:pt idx="1">
                    <c:v>Candidate
Pairing</c:v>
                  </c:pt>
                  <c:pt idx="2">
                    <c:v>Category</c:v>
                  </c:pt>
                  <c:pt idx="3">
                    <c:v>Sentiment</c:v>
                  </c:pt>
                  <c:pt idx="4">
                    <c:v>Full
Quad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50.6</c:v>
                </c:pt>
                <c:pt idx="1">
                  <c:v>68</c:v>
                </c:pt>
                <c:pt idx="2">
                  <c:v>71</c:v>
                </c:pt>
                <c:pt idx="3">
                  <c:v>88</c:v>
                </c:pt>
                <c:pt idx="4">
                  <c:v>14.2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Compound Retained</c:v>
                </c:pt>
              </c:strCache>
            </c:strRef>
          </c:tx>
          <c:spPr>
            <a:solidFill>
              <a:srgbClr val="B94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Span
Extraction</c:v>
                  </c:pt>
                  <c:pt idx="1">
                    <c:v>Candidate
Pairing</c:v>
                  </c:pt>
                  <c:pt idx="2">
                    <c:v>Category</c:v>
                  </c:pt>
                  <c:pt idx="3">
                    <c:v>Sentiment</c:v>
                  </c:pt>
                  <c:pt idx="4">
                    <c:v>Full
Quad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50.6</c:v>
                </c:pt>
                <c:pt idx="1">
                  <c:v>34.4</c:v>
                </c:pt>
                <c:pt idx="2">
                  <c:v>24.4</c:v>
                </c:pt>
                <c:pt idx="3">
                  <c:v>21.5</c:v>
                </c:pt>
                <c:pt idx="4">
                  <c:v>14.2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7EB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F1 / Retention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50" b="0" i="0" u="none" strike="noStrike">
                <a:solidFill>
                  <a:srgbClr val="000000"/>
                </a:solidFill>
                <a:latin typeface="Arial"/>
              </a:rPr>
              <a:t>Candidate Ceiling vs. Realized Pair Recall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Joint SDRN</c:v>
                </c:pt>
              </c:strCache>
            </c:strRef>
          </c:tx>
          <c:spPr>
            <a:solidFill>
              <a:srgbClr val="8A96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Candidate Ceiling
Recall</c:v>
                  </c:pt>
                  <c:pt idx="1">
                    <c:v>Pair Recall
(default τ)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33.04</c:v>
                </c:pt>
                <c:pt idx="1">
                  <c:v>34.85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Span-ASTE Run 1</c:v>
                </c:pt>
              </c:strCache>
            </c:strRef>
          </c:tx>
          <c:spPr>
            <a:solidFill>
              <a:srgbClr val="63B3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Candidate Ceiling
Recall</c:v>
                  </c:pt>
                  <c:pt idx="1">
                    <c:v>Pair Recall
(default τ)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81.1</c:v>
                </c:pt>
                <c:pt idx="1">
                  <c:v>22.68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Span-ASTE Run 3</c:v>
                </c:pt>
              </c:strCache>
            </c:strRef>
          </c:tx>
          <c:spPr>
            <a:solidFill>
              <a:srgbClr val="3FA9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Candidate Ceiling
Recall</c:v>
                  </c:pt>
                  <c:pt idx="1">
                    <c:v>Pair Recall
(default τ)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81.91</c:v>
                </c:pt>
                <c:pt idx="1">
                  <c:v>45.78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7EB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Six-Generation Progression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Aspect F1</c:v>
                </c:pt>
              </c:strCache>
            </c:strRef>
          </c:tx>
          <c:spPr>
            <a:solidFill>
              <a:srgbClr val="9FC7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Pipeline</c:v>
                  </c:pt>
                  <c:pt idx="1">
                    <c:v>SDRN</c:v>
                  </c:pt>
                  <c:pt idx="2">
                    <c:v>Run1</c:v>
                  </c:pt>
                  <c:pt idx="3">
                    <c:v>Run2</c:v>
                  </c:pt>
                  <c:pt idx="4">
                    <c:v>Run3</c:v>
                  </c:pt>
                  <c:pt idx="5">
                    <c:v>ByT5-D</c:v>
                  </c:pt>
                  <c:pt idx="6">
                    <c:v>ByT5-T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50.6</c:v>
                </c:pt>
                <c:pt idx="1">
                  <c:v>48</c:v>
                </c:pt>
                <c:pt idx="2">
                  <c:v>50.59</c:v>
                </c:pt>
                <c:pt idx="3">
                  <c:v>53.76</c:v>
                </c:pt>
                <c:pt idx="4">
                  <c:v>55.2</c:v>
                </c:pt>
                <c:pt idx="5">
                  <c:v>29.81</c:v>
                </c:pt>
                <c:pt idx="6">
                  <c:v>29.94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Quad F1</c:v>
                </c:pt>
              </c:strCache>
            </c:strRef>
          </c:tx>
          <c:spPr>
            <a:solidFill>
              <a:srgbClr val="3FA9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Pipeline</c:v>
                  </c:pt>
                  <c:pt idx="1">
                    <c:v>SDRN</c:v>
                  </c:pt>
                  <c:pt idx="2">
                    <c:v>Run1</c:v>
                  </c:pt>
                  <c:pt idx="3">
                    <c:v>Run2</c:v>
                  </c:pt>
                  <c:pt idx="4">
                    <c:v>Run3</c:v>
                  </c:pt>
                  <c:pt idx="5">
                    <c:v>ByT5-D</c:v>
                  </c:pt>
                  <c:pt idx="6">
                    <c:v>ByT5-T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14.2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17.9</c:v>
                </c:pt>
                <c:pt idx="6">
                  <c:v>16.14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Implicit Quad F1</c:v>
                </c:pt>
              </c:strCache>
            </c:strRef>
          </c:tx>
          <c:spPr>
            <a:solidFill>
              <a:srgbClr val="D97D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Pipeline</c:v>
                  </c:pt>
                  <c:pt idx="1">
                    <c:v>SDRN</c:v>
                  </c:pt>
                  <c:pt idx="2">
                    <c:v>Run1</c:v>
                  </c:pt>
                  <c:pt idx="3">
                    <c:v>Run2</c:v>
                  </c:pt>
                  <c:pt idx="4">
                    <c:v>Run3</c:v>
                  </c:pt>
                  <c:pt idx="5">
                    <c:v>ByT5-D</c:v>
                  </c:pt>
                  <c:pt idx="6">
                    <c:v>ByT5-T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19.28</c:v>
                </c:pt>
                <c:pt idx="6">
                  <c:v>14.87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7EB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2377440"/>
          </a:xfrm>
          <a:prstGeom prst="rect">
            <a:avLst/>
          </a:prstGeom>
          <a:solidFill>
            <a:srgbClr val="0E4A70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ACOS QUADRUPLE EXTRACTION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Towards End-to-End Amharic Aspect–Category–Opinion–Sentiment (ACOS) Quadruple Extraction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6-Stage Extractive Pipelines to Byte-Level Generative Foundation Models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4754880" cy="0"/>
          </a:xfrm>
          <a:prstGeom prst="line">
            <a:avLst/>
          </a:prstGeom>
          <a:noFill/>
          <a:ln w="31750">
            <a:solidFill>
              <a:srgbClr val="D97D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02336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Azariyas Mekonen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25696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Domain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E-Commerce &amp; Hospitality Reviews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28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ByT5-Base Generative (Final Test Evaluation)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23036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github.com/EthAIResearch/acos-amharic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·  Technical Report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PROBLEM FORMULATION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Amharic ACOS Quadruple Extraction Challenge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Formulating fine-grained sentiment as four-dimensional semantic tuples under low-resource Semitic morphology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960120"/>
          </a:xfrm>
          <a:prstGeom prst="roundRect">
            <a:avLst>
              <a:gd name="adj" fmla="val 5714"/>
            </a:avLst>
          </a:prstGeom>
          <a:solidFill>
            <a:srgbClr val="EAF2F5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= { (a, c, s, o)  |  a ∈ A ∪ {NULL},  c ∈ C,  s ∈ {POS, NEG, NEU},  o ∈ O ∪ {NULL} }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</a:rPr>
              <a:t>a = aspect term · c = one of 29 predefined categories · s = sentiment polarity · o = opinion expression. Either a or o (or both) may be NULL when the target or sentiment is implicit — the source of most difficulty in this report.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3611880" cy="3566160"/>
          </a:xfrm>
          <a:prstGeom prst="roundRect">
            <a:avLst>
              <a:gd name="adj" fmla="val 1538"/>
            </a:avLst>
          </a:prstGeom>
          <a:solidFill>
            <a:srgbClr val="EAF2F5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871216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Extreme Morphological Fusion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3236976"/>
            <a:ext cx="320954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is agglutinative: pronouns, prepositions and negation clitics fuse into single surface tokens.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'አልተመቺኛም' decomposes into al-(negation) + temeche(root) + -gn(object) + -m(conjunction).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Whitespace/BPE tokenizers split such tokens arbitrarily, shattering opinion modifiers.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9392" y="2743200"/>
            <a:ext cx="3611880" cy="3566160"/>
          </a:xfrm>
          <a:prstGeom prst="roundRect">
            <a:avLst>
              <a:gd name="adj" fmla="val 1538"/>
            </a:avLst>
          </a:prstGeom>
          <a:solidFill>
            <a:srgbClr val="EAF2F5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2871216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High Implicit Density (42.7%)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236976"/>
            <a:ext cx="320954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all quads lack an explicit aspect, an explicit opinion, or both.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aspect: 'በጣም ውድ ነው' ("very expensive") — target never named.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impossibility: a model that only copies spans can never produce a token absent from the input.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55864" y="2743200"/>
            <a:ext cx="3602736" cy="3566160"/>
          </a:xfrm>
          <a:prstGeom prst="roundRect">
            <a:avLst>
              <a:gd name="adj" fmla="val 1538"/>
            </a:avLst>
          </a:prstGeom>
          <a:solidFill>
            <a:srgbClr val="F5E9E3"/>
          </a:solidFill>
          <a:ln w="12700">
            <a:solidFill>
              <a:srgbClr val="E8CB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57032" y="28712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Open Vocabulary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3236976"/>
            <a:ext cx="320040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66.2% of opinion spans in the test set never appear in training.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Slang and phonetic spelling variants ('ዋው', 'ጀመረኛ') fragment under any fixed vocabulary.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Motivates the eventual move to byte-level, vocabulary-free modeling (Phase 6).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BASELINE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6-Stage Modular Extractive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an independently trained classifier consuming only the previous stage's output — no feedback path exists</a:t>
            </a:r>
            <a:endParaRPr lang="en-US" sz="1250" dirty="0"/>
          </a:p>
        </p:txBody>
      </p:sp>
      <p:pic>
        <p:nvPicPr>
          <p:cNvPr id="5" name="Image 0" descr="diagrams/diag1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37360"/>
            <a:ext cx="11430000" cy="46268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AUTOPSY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Error-Compounding Law in Cascaded Pipelines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independently-good stage results still guarantee a bad end-to-end result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EAF2F5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682496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Zero-Error-Recovery Theorem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048256"/>
            <a:ext cx="4946904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2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Stage 1 misses an aspect term, that quadruple is irrevocably lost — later stages never see it.</a:t>
            </a:r>
            <a:endParaRPr lang="en-US" sz="11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2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pairing retains 68% of survivors: 0.506×0.680 ≈ 34.4%.</a:t>
            </a:r>
            <a:endParaRPr lang="en-US" sz="11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2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classification retains 71%: 0.344×0.710 ≈ 24.4%.</a:t>
            </a:r>
            <a:endParaRPr lang="en-US" sz="11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2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classification retains 88%: 0.244×0.880 ≈ 21.5%.</a:t>
            </a:r>
            <a:endParaRPr lang="en-US" sz="11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2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&amp; precision penalties in Stage 6 drive the final exact F1 down to 14.2%.</a:t>
            </a:r>
            <a:endParaRPr lang="en-US" sz="11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2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note: the bound is defined over recall; the per-stage figures available are F1 scores used here as a practical proxy, so this chain is an order-of-magnitude illustration rather than an exact derivation.</a:t>
            </a:r>
            <a:endParaRPr lang="en-US" sz="112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080760" y="1600200"/>
          <a:ext cx="55778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080760" y="55778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Stages 1–4 participate in this illustrative chain; Stage 5 (heuristic recovery) and Stage 6 (assembly/filtering) act afterward.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TRANSITION TO JOINT MODELING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Synchronous Dual-Channel Recurrent Network (SDRN)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aspect and opinion extraction via cross-channel interaction matrices and linear-chain CRFs</a:t>
            </a:r>
            <a:endParaRPr lang="en-US" sz="1250" dirty="0"/>
          </a:p>
        </p:txBody>
      </p:sp>
      <p:pic>
        <p:nvPicPr>
          <p:cNvPr id="5" name="Image 0" descr="diagrams/diag2_sd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37360"/>
            <a:ext cx="9601200" cy="4572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AUTOPSY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BIO Token-Fragmentation Ceiling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token-level sequence labeling collapses on morphologically rich, multi-word Semitic expressions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349240" cy="4572000"/>
          </a:xfrm>
          <a:prstGeom prst="roundRect">
            <a:avLst>
              <a:gd name="adj" fmla="val 1200"/>
            </a:avLst>
          </a:prstGeom>
          <a:solidFill>
            <a:srgbClr val="EAF2F5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682496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Fatal Failure Modes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048256"/>
            <a:ext cx="4946904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boundary jitter: agglutinative clitics split words into 2–4 subwords; one misclassified subword fractures the whole span.</a:t>
            </a:r>
            <a:endParaRPr lang="en-US" sz="11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Devastating candidate ceiling: only 33.04% of ground-truth aspect–opinion pairs were even co-extracted by the CRF — 66.96% discarded before pairing began.</a:t>
            </a:r>
            <a:endParaRPr lang="en-US" sz="11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Non-contiguous, multi-word failures: opinions average 2.4 tokens; the CRF often produced disjoint tags like [B-OPN, O, I-OPN].</a:t>
            </a:r>
            <a:endParaRPr lang="en-US" sz="11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token-level BIO tagging is fundamentally incompatible with Amharic morphosyntax — forcing the shift to direct span enumeration (Phase 3).</a:t>
            </a:r>
            <a:endParaRPr lang="en-US" sz="113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080760" y="1600200"/>
          <a:ext cx="55778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080760" y="58064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runs shown at each run's own default decision threshold; Run 2's default-threshold pair recall was not separately reported.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3–5 · THE SPAN PARADIGM SHIFT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Span-ASTE: Architecture and the Three Design Decisions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(ACL 2021), adapted for Amharic — eliminating BIO tagging via direct span enumeration</a:t>
            </a:r>
            <a:endParaRPr lang="en-US" sz="1250" dirty="0"/>
          </a:p>
        </p:txBody>
      </p:sp>
      <p:pic>
        <p:nvPicPr>
          <p:cNvPr id="5" name="Image 0" descr="diagrams/diag3_spana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417320"/>
            <a:ext cx="9692640" cy="5120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SPAN-ASTE RUN 1 · DIAGNOSTIC &amp; CALIBRATION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Uncovering the Extreme Class Imbalance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why 81.1% candidate recall still produced only 22.7% pair recall at the default decision boundary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EAF2F5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682496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Cause: 96.8% Class Skew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048256"/>
            <a:ext cx="4946904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Detection (ATE): P 51.52% · R 49.69% · F1 50.59%</a:t>
            </a:r>
            <a:endParaRPr lang="en-US" sz="11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Detection (OTE): P 47.90% · R 39.81% · F1 43.48%</a:t>
            </a:r>
            <a:endParaRPr lang="en-US" sz="11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AOPE Pair Extraction: P 47.93% · R 22.68% · F1 30.80%</a:t>
            </a:r>
            <a:endParaRPr lang="en-US" sz="11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 Triplet Extraction: P 42.15% · R 19.95% · F1 27.09%</a:t>
            </a:r>
            <a:endParaRPr lang="en-US" sz="11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pruned span-pair matrix, over 96.8% of candidates are the INVALID (no-relation) class. Ordinary cross-entropy training makes the model excessively conservative, so true relations often score only 0.25–0.45 — just under the 0.50 threshold.</a:t>
            </a:r>
            <a:endParaRPr lang="en-US" sz="113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691640"/>
          <a:ext cx="5577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0120"/>
                <a:gridCol w="1097280"/>
                <a:gridCol w="100584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Pairs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 (default)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 (optimal τ*)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FA9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080760" y="44348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acceptance threshold to τ*=0.30 unlocks +132 valid pairs — without any retraining, purely by adjusting the inference-time decision boundary.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RESULTS · DIAGNOSTIC AUTOPSY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Biaffine Breakthrough &amp; the Boundary-Truncation Bottleneck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Biaffine attention (Dozat &amp; Manning, 2017) surpasses Run 1 on every metric — while exposing a new flaw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37160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 (MLP)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2 (Biaffine)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 Detection (ATE F1)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+3.17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 Detection (OTE F1)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+1.54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AOPE Pair F1 (default τ=0.50)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+183 pairs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ASTE Triplet F1 (default τ=0.50)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+2.28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Pairs (at τ*=0.30)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+43.4%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5E9E3"/>
          </a:solidFill>
          <a:ln w="12700">
            <a:solidFill>
              <a:srgbClr val="E8CB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64808" y="1728216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Boundary-Truncation Bottleneck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64808" y="2093976"/>
            <a:ext cx="4992624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h_span = [x_start; x_end; f_width] encodes only the first and last tokens of a span.</a:t>
            </a:r>
            <a:endParaRPr lang="en-US" sz="114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multi-word opinions like 'በጣም ጥሩ አይደለም' ("very good not"), the critical mid-span negation word 'አይደለም' is completely ignored.</a:t>
            </a:r>
            <a:endParaRPr lang="en-US" sz="114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produced severe boundary mismatches: the model predicted 'ጥሩ' (good) as positive, missing the trailing negation entirely.</a:t>
            </a:r>
            <a:endParaRPr lang="en-US" sz="114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4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span representations must aggregate every intermediate token, not just the two endpoints — without exploding inference-time compute. This motivates Phase 5.</a:t>
            </a:r>
            <a:endParaRPr lang="en-US" sz="1140" dirty="0"/>
          </a:p>
        </p:txBody>
      </p:sp>
      <p:sp>
        <p:nvSpPr>
          <p:cNvPr id="9" name="Text 6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ARCHITECTURAL INNOVATION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Vectorized O(1) Prefix-Sum Mean-Pooling &amp; Focal Loss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complete internal span semantics at zero added asymptotic cost, plus cost-sensitive class re-weighting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486400" cy="4572000"/>
          </a:xfrm>
          <a:prstGeom prst="roundRect">
            <a:avLst>
              <a:gd name="adj" fmla="val 1200"/>
            </a:avLst>
          </a:prstGeom>
          <a:solidFill>
            <a:srgbClr val="EAF2F5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68249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 Cumulative Prefix-Sum Pooling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048256"/>
            <a:ext cx="5084064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P[t] = Σ(k=1..t) x_k  →  precomputed once per sentence in O(n).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h_mean = (P[e] − P[s]) / (e − s + 1)  —  any span's mean in O(1) lookup.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h_span = [x_start; x_end; h_mean; f_width] ∈ ℝ²³²⁴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fixes Run 2's boundary-truncation flaw: h_mean now reflects every token in the span, not just its two endpoints.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94960" cy="4572000"/>
          </a:xfrm>
          <a:prstGeom prst="roundRect">
            <a:avLst>
              <a:gd name="adj" fmla="val 1200"/>
            </a:avLst>
          </a:prstGeom>
          <a:solidFill>
            <a:srgbClr val="F5E9E3"/>
          </a:solidFill>
          <a:ln w="12700">
            <a:solidFill>
              <a:srgbClr val="E8CB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4808" y="1682496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Cost-Sensitive Focal Loss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64808" y="2048256"/>
            <a:ext cx="4992624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the 96.8% INVALID-class skew directly during training, not only via post-hoc threshold tuning.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L_focal = −α_t(1−p_t)^γ log(p_t)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weights: w = [INVALID: 0.25, POS: 2.5, NEG: 2.5, NEU: 3.0]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the overwhelmingly common INVALID class and up-weights the three rare, informative relation classes.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 RESULTS · PARADIGM LIMIT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Upstream State-of-the-Art &amp; the Inherent Extractive Ceiling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Mean-pooling reaches the project's best upstream detection scores — and exposes the theoretical boundary of any extractive model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51560"/>
                <a:gridCol w="105156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 Term Extraction (ATE F1)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FA9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 Term Recall (OTE Recall)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41.60%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FA9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46.70%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Ceiling 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FA9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Pair Recall (τ*=0.30)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FA9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45.78%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Quadruple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600200"/>
            <a:ext cx="5394960" cy="4572000"/>
          </a:xfrm>
          <a:prstGeom prst="roundRect">
            <a:avLst>
              <a:gd name="adj" fmla="val 1200"/>
            </a:avLst>
          </a:prstGeom>
          <a:solidFill>
            <a:srgbClr val="F5E9E3"/>
          </a:solidFill>
          <a:ln w="12700">
            <a:solidFill>
              <a:srgbClr val="E8CB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64808" y="1728216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Extractive Wall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64808" y="2093976"/>
            <a:ext cx="4992624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extractive span model can only select continuous token slices from the input string X.</a:t>
            </a:r>
            <a:endParaRPr lang="en-US" sz="11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 of all quads have an implicit target, implicit opinion, or both — and NULL has no token coordinate in X.</a:t>
            </a:r>
            <a:endParaRPr lang="en-US" sz="11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perfect recall on every explicit quad, full-quad recall is capped at the 57.3% of quads that are fully explicit. This is a theoretical best-case ceiling, not a prediction of achieved performance.</a:t>
            </a:r>
            <a:endParaRPr lang="en-US" sz="113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pivot: the only viable path forward is sequence-to-sequence generation, which can emit tokens — including the literal string NULL — that never appeared in the input.</a:t>
            </a:r>
            <a:endParaRPr lang="en-US" sz="1130" dirty="0"/>
          </a:p>
        </p:txBody>
      </p:sp>
      <p:sp>
        <p:nvSpPr>
          <p:cNvPr id="9" name="Text 6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GENERATIVE FOUNDATION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Paradigm Shift to Generative ByT5-Base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Formulating quadruple extraction as autoregressive, byte-level sequence generation (Xue et al., 2022)</a:t>
            </a:r>
            <a:endParaRPr lang="en-US" sz="1250" dirty="0"/>
          </a:p>
        </p:txBody>
      </p:sp>
      <p:pic>
        <p:nvPicPr>
          <p:cNvPr id="5" name="Image 0" descr="diagrams/diag4_by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37360"/>
            <a:ext cx="11430000" cy="4928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BYT5 ENGINEERING &amp; OPTIMIZATION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Overcoming the FP16 NaN Collapse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Hardware-level stabilization: BFloat16 dynamic range, Adafactor memory reduction, and fast greedy evaluation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349240" cy="4572000"/>
          </a:xfrm>
          <a:prstGeom prst="roundRect">
            <a:avLst>
              <a:gd name="adj" fmla="val 1200"/>
            </a:avLst>
          </a:prstGeom>
          <a:solidFill>
            <a:srgbClr val="EAF2F5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682496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Epoch 1 Training Failure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048256"/>
            <a:ext cx="4946904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ByT5 byte sequences run ~3–4× longer than the equivalent subword sequences (up to 512 bytes).</a:t>
            </a:r>
            <a:endParaRPr lang="en-US" sz="11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FP16, byte-embedding gradients caused arithmetic underflow and exponent overflow beyond ±65,504.</a:t>
            </a:r>
            <a:endParaRPr lang="en-US" sz="11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diverged to NaN within step 350 of epoch 1.</a:t>
            </a:r>
            <a:endParaRPr lang="en-US" sz="11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Separately, beam-search validation took ~45 minutes per epoch, making multi-epoch training impractical.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94960" cy="4572000"/>
          </a:xfrm>
          <a:prstGeom prst="roundRect">
            <a:avLst>
              <a:gd name="adj" fmla="val 1200"/>
            </a:avLst>
          </a:prstGeom>
          <a:solidFill>
            <a:srgbClr val="F5E9E3"/>
          </a:solidFill>
          <a:ln w="12700">
            <a:solidFill>
              <a:srgbClr val="E8CB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4808" y="1682496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Engineering Fixes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64808" y="2048256"/>
            <a:ext cx="4992624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BFloat16 (BF16): keeps FP32's 8 exponent bits, expanding dynamic range from ~10±4.8 to ~10±38 — eliminates NaN crashes entirely.</a:t>
            </a:r>
            <a:endParaRPr lang="en-US" sz="11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Adafactor optimizer: factorizes second moments (V ≈ R·C / mean(R)), cutting optimizer VRAM ~60% and enabling batch size 8 with gradient accumulation ×4.</a:t>
            </a:r>
            <a:endParaRPr lang="en-US" sz="11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greedy validation: batched (bs=16) greedy decoding cuts validation time from ~45 min to ~90 sec/epoch — a ~30× speedup.</a:t>
            </a:r>
            <a:endParaRPr lang="en-US" sz="1160" dirty="0"/>
          </a:p>
        </p:txBody>
      </p:sp>
      <p:sp>
        <p:nvSpPr>
          <p:cNvPr id="11" name="Text 9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BYT5 DEV-SET MILESTONE · BEST CHECKPOINT, EPOCH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the Implicit Barrier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First-ever non-zero implicit-quad recovery across the entire project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68680"/>
                <a:gridCol w="868680"/>
                <a:gridCol w="868680"/>
                <a:gridCol w="685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Quadruple (A,C,S,O)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Quadruples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Quadruples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Category–Sentiment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Aspect–Category–Sentiment (ACSE)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AOPE Pair (A,O)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ASTE Triplet (A,S,O)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600200"/>
            <a:ext cx="4480560" cy="4526280"/>
          </a:xfrm>
          <a:prstGeom prst="roundRect">
            <a:avLst>
              <a:gd name="adj" fmla="val 1224"/>
            </a:avLst>
          </a:prstGeom>
          <a:solidFill>
            <a:srgbClr val="EAF2F5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79208" y="1728216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Match — Complex Implicit Sentence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79208" y="2093976"/>
            <a:ext cx="4078224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ውህደቱ ለአገራዊ ለውጡ አስተዋጽኦ ያበረክታል በሚል ብዙዎች ተስፋ ጥለውበት የነበረ ቢሆንም በተግባር የታየው ግን ተስፋ አስቆረጣቸው።</a:t>
            </a:r>
            <a:endParaRPr lang="en-US" sz="108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truth: [ ውህደቱ | GOVERNANCE#CITIZEN_ENGAGEMENT | NEGATIVE | ተስፋ አስቆረጣቸው ]</a:t>
            </a:r>
            <a:endParaRPr lang="en-US" sz="108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ByT5 prediction: exact match ✓</a:t>
            </a:r>
            <a:endParaRPr lang="en-US" sz="108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extractive architecture in Phases 1–5 scored exactly 0.00% on implicit quads; ByT5 recovers 70 true-positive implicit quads at 23.49% precision.</a:t>
            </a:r>
            <a:endParaRPr lang="en-US" sz="1080" dirty="0"/>
          </a:p>
        </p:txBody>
      </p:sp>
      <p:sp>
        <p:nvSpPr>
          <p:cNvPr id="9" name="Text 6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EVALUATION · 10-EPOCH BYT5-BASE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Definitive Test-Set Metrics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held-out test evaluation after 10 epochs, best checkpoint selected on dev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68680"/>
                <a:gridCol w="868680"/>
                <a:gridCol w="868680"/>
                <a:gridCol w="685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Quadruple (A,C,S,O)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Quadruples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Quadruples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AOPE Pair (A,O)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ASTE Triplet (A,S,O)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Aspect–Category–Sentiment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Category–Sentiment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600200"/>
            <a:ext cx="4480560" cy="4526280"/>
          </a:xfrm>
          <a:prstGeom prst="roundRect">
            <a:avLst>
              <a:gd name="adj" fmla="val 1224"/>
            </a:avLst>
          </a:prstGeom>
          <a:solidFill>
            <a:srgbClr val="F5E9E3"/>
          </a:solidFill>
          <a:ln w="12700">
            <a:solidFill>
              <a:srgbClr val="E8CB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79208" y="1728216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Dev-Best vs. Final Test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79208" y="2093976"/>
            <a:ext cx="4078224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Quad F1: 17.90% → 16.14% (−1.76 pts) — a modest generalization gap.</a:t>
            </a:r>
            <a:endParaRPr lang="en-US" sz="10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Quad F1: 19.28% → 14.87% (−4.41 pts) — the largest drop; implicit extraction remains the hardest sub-task.</a:t>
            </a:r>
            <a:endParaRPr lang="en-US" sz="10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Category–Sentiment F1: 48.70% → 48.27% — highly stable, generalizes robustly.</a:t>
            </a:r>
            <a:endParaRPr lang="en-US" sz="10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ACSE F1: 29.81% → 29.94% (+0.13 pts) — improved slightly on test.</a:t>
            </a:r>
            <a:endParaRPr lang="en-US" sz="10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811 true-positive full quadruples and 274 implicit true positives on the full held-out test set.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BENCHMARK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Cross-Architecture Synthesis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performance across all six model generations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51560"/>
                <a:gridCol w="1143000"/>
                <a:gridCol w="1097280"/>
                <a:gridCol w="8229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 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AOPE Pair 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Quad 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6-Stage 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SDRN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34.85%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Span-ASTE Run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Span-ASTE Run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Span-ASTE Run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FA9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32.04%†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ByT5-Base (Dev Ep.9)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29.81%‡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7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ByT5-Base (Final Test)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29.94%‡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5212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*No pair-level metric was reported for the pipeline separately from its final quad score.   †Not directly traceable to Run 3's own results — the confirmed figure is 45.78% calibrated pair recall.   ‡Joint Aspect–Category–Sentiment (ACSE), not directly comparable to ATE F1 in rows above.</a:t>
            </a:r>
            <a:endParaRPr lang="en-US" sz="83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178040" y="1600200"/>
          <a:ext cx="4480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Evolution: Six Generations, Six Decisions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transition was forced by a specific diagnosed failure in the previous generation</a:t>
            </a:r>
            <a:endParaRPr lang="en-US" sz="1250" dirty="0"/>
          </a:p>
        </p:txBody>
      </p:sp>
      <p:pic>
        <p:nvPicPr>
          <p:cNvPr id="5" name="Image 0" descr="diagrams/diag5_ev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11430000" cy="23957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4160520"/>
            <a:ext cx="11155680" cy="2377440"/>
          </a:xfrm>
          <a:prstGeom prst="roundRect">
            <a:avLst>
              <a:gd name="adj" fmla="val 2308"/>
            </a:avLst>
          </a:prstGeom>
          <a:solidFill>
            <a:srgbClr val="EAF2F5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4088" y="4288536"/>
            <a:ext cx="10753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Strategic Horizons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04088" y="4654296"/>
            <a:ext cx="10753344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1 — Curriculum fine-tuning: pre-train the ByT5 decoder on explicit quadruples before joint fine-tuning on implicit NULL tuples.</a:t>
            </a:r>
            <a:endParaRPr lang="en-US" sz="108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2 — Constrained trie/FSM decoding: enforce a finite-state machine over the 29 categories and 3 sentiment labels to eliminate hallucinations.</a:t>
            </a:r>
            <a:endParaRPr lang="en-US" sz="108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 — Foundation model scaling: scale ByT5-Base (580M) to ByT5-Large (1.2B) via LoRA to enrich contextual Semitic representations.</a:t>
            </a:r>
            <a:endParaRPr lang="en-US" sz="1080" dirty="0"/>
          </a:p>
        </p:txBody>
      </p:sp>
      <p:sp>
        <p:nvSpPr>
          <p:cNvPr id="9" name="Text 6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15568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Xu, L., Chia, Y. K., &amp; Bing, L. (2021). Learning Span-Level Interactions for Aspect Sentiment Triplet Extraction. Proceedings of ACL-IJCNLP 2021.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Chen, S., Wang, Y., Liu, J., &amp; Wang, Y. (2020). Synchronous Double-Channel Recurrent Network for Aspect-Opinion Pair Extraction. Proceedings of ACL 2020.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Cai, H., Xia, R., &amp; Yu, J. (2021). Aspect-Category-Opinion-Sentiment Quadruple Extraction with Implicit Aspects and Opinions. Proceedings of ACL-IJCNLP 2021.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Dozat, T., &amp; Manning, C. D. (2017). Deep Biaffine Attention for Neural Dependency Parsing. International Conference on Learning Representations (ICLR).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Lin, T.-Y., Goyal, P., Girshick, R., He, K., &amp; Dollár, P. (2017). Focal Loss for Dense Object Detection. Proceedings of ICCV 2017.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Xue, L., Barua, A., Constant, N., Al-Rfou, R., Narang, S., Kale, M., Roberts, A., &amp; Raffel, C. (2022). ByT5: Towards a Token-Free Future with Pre-trained Byte-to-Byte Models. Transactions of the ACL (TACL), 10.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Raffel, C., Shazeer, N., Roberts, A., Lee, K., Narang, S., Matena, M., Zhou, Y., Li, W., &amp; Liu, P. J. (2020). Exploring the Limits of Transfer Learning with a Unified Text-to-Text Transformer. Journal of Machine Learning Research (JMLR), 21.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Shazeer, N., &amp; Stern, M. (2018). Adafactor: Adaptive Learning Rates with Sublinear Memory Cost. Proceedings of ICML 2018.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Conneau, A., Khandelwal, K., Goyal, N., Chaudhary, V., Wenzek, G., Guzmán, F., Grave, E., Ott, M., Zettlemoyer, L., &amp; Stoyanov, V. (2020). Unsupervised Cross-lingual Representation Learning at Scale (XLM-R). Proceedings of ACL 2020.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Alabi, J. O., Adelani, D. I., Mosbach, M., &amp; Klakow, D. (2022). Adapting Pre-trained Language Models to African Languages via Multilingual Adaptive Fine-Tuning (AfroXLM-R). Proceedings of COLING 2022.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Mekonen, A. (2026). acos-amharic: End-to-End Amharic ACOS Quadruple Extraction [Source code repository]. github.com/EthAIResearch/acos-amharic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rasyosef/roberta-base-amharic and Davlan/afro-xlmr-base model cards. Hugging Face Model Hub.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6586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2026-09-26T03:44:50Z</dcterms:created>
  <dcterms:modified xsi:type="dcterms:W3CDTF">2026-09-26T03:44:50Z</dcterms:modified>
</cp:coreProperties>
</file>