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8"/>
    <p:sldId id="285" r:id="rId7"/>
    <p:sldId id="286" r:id="rId6"/>
    <p:sldId id="287" r:id="rId5"/>
    <p:sldId id="288" r:id="rId4"/>
    <p:sldId id="289" r:id="rId3"/>
    <p:sldId id="290" r:id="rId25"/>
    <p:sldId id="291" r:id="rId26"/>
    <p:sldId id="292" r:id="rId27"/>
    <p:sldId id="293" r:id="rId28"/>
    <p:sldId id="294" r:id="rId29"/>
    <p:sldId id="295" r:id="rId30"/>
    <p:sldId id="296" r:id="rId31"/>
    <p:sldId id="297" r:id="rId32"/>
    <p:sldId id="298" r:id="rId33"/>
    <p:sldId id="299" r:id="rId34"/>
    <p:sldId id="300" r:id="rId35"/>
    <p:sldId id="301" r:id="rId36"/>
    <p:sldId id="302" r:id="rId37"/>
    <p:sldId id="303" r:id="rId38"/>
    <p:sldId id="304" r:id="rId39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18.xml"/><Relationship Id="rId4" Type="http://schemas.openxmlformats.org/officeDocument/2006/relationships/slide" Target="slides/slide17.xml"/><Relationship Id="rId5" Type="http://schemas.openxmlformats.org/officeDocument/2006/relationships/slide" Target="slides/slide16.xml"/><Relationship Id="rId6" Type="http://schemas.openxmlformats.org/officeDocument/2006/relationships/slide" Target="slides/slide15.xml"/><Relationship Id="rId7" Type="http://schemas.openxmlformats.org/officeDocument/2006/relationships/slide" Target="slides/slide14.xml"/><Relationship Id="rId8" Type="http://schemas.openxmlformats.org/officeDocument/2006/relationships/slide" Target="slides/slide13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2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Evidence audit: 2026-10-02</a:t>
            </a:r>
          </a:p>
          <a:p>
            <a:r>
              <a:t>Research scope and current status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https://github.com/EthAIResearch/acos-amharic/blob/7e40773050395fcd5a9c0408ec0c3206a81550d4/data/README.md</a:t>
            </a:r>
          </a:p>
          <a:p>
            <a:r>
              <a:t>https://github.com/EthAIResearch/acos-amharic/blob/7e40773050395fcd5a9c0408ec0c3206a81550d4/results/stage_byt5_acos/byt5_base_run1/test_metrics.json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audit: 2026-10-02</a:t>
            </a:r>
          </a:p>
          <a:p>
            <a:r>
              <a:t>A Better Relation Model, With Modest Gains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https://github.com/EthAIResearch/acos-amharic/blob/7e40773050395fcd5a9c0408ec0c3206a81550d4/results/stage_span_aste/afroxlmr_biaffine_run2/best_metrics.json</a:t>
            </a:r>
          </a:p>
          <a:p>
            <a:r>
              <a:t>https://github.com/EthAIResearch/acos-amharic/blob/7e40773050395fcd5a9c0408ec0c3206a81550d4/src/stage_span_aste/model.py</a:t>
            </a:r>
          </a:p>
          <a:p>
            <a:r>
              <a:t>https://github.com/EthAIResearch/acos-amharic/pull/91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audit: 2026-10-02</a:t>
            </a:r>
          </a:p>
          <a:p>
            <a:r>
              <a:t>Amharic ACOS: Four Fields, One Exact Match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https://github.com/EthAIResearch/acos-amharic/blob/7e40773050395fcd5a9c0408ec0c3206a81550d4/src/common/data_prep.py</a:t>
            </a:r>
          </a:p>
          <a:p>
            <a:r>
              <a:t>https://github.com/EthAIResearch/acos-amharic/blob/7e40773050395fcd5a9c0408ec0c3206a81550d4/src/stage_byt5_acos/linearization.py</a:t>
            </a:r>
          </a:p>
          <a:p>
            <a:r>
              <a:t>https://github.com/EthAIResearch/acos-amharic/blob/7e40773050395fcd5a9c0408ec0c3206a81550d4/src/pipeline/evaluate.py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audit: 2026-10-02</a:t>
            </a:r>
          </a:p>
          <a:p>
            <a:r>
              <a:t>A Civic-Domain Dataset, Not a Review Benchmark</a:t>
            </a:r>
          </a:p>
          <a:p/>
          <a:p>
            <a:r>
              <a:t>Counts recomputed from the JSONL files. No independent human annotation-quality study is recorded.</a:t>
            </a:r>
          </a:p>
          <a:p/>
          <a:p>
            <a:r>
              <a:t>Sources:</a:t>
            </a:r>
          </a:p>
          <a:p>
            <a:r>
              <a:t>https://github.com/EthAIResearch/acos-amharic/blob/7e40773050395fcd5a9c0408ec0c3206a81550d4/data/README.md</a:t>
            </a:r>
          </a:p>
          <a:p>
            <a:r>
              <a:t>https://github.com/EthAIResearch/acos-amharic/blob/7e40773050395fcd5a9c0408ec0c3206a81550d4/data/prepared/train.jsonl</a:t>
            </a:r>
          </a:p>
          <a:p>
            <a:r>
              <a:t>https://github.com/EthAIResearch/acos-amharic/blob/7e40773050395fcd5a9c0408ec0c3206a81550d4/data/prepared/test.jsonl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audit: 2026-10-02</a:t>
            </a:r>
          </a:p>
          <a:p>
            <a:r>
              <a:t>A Cleaned Dataset Is Now Available</a:t>
            </a:r>
          </a:p>
          <a:p/>
          <a:p>
            <a:r>
              <a:t>Independent checks found zero normalized-text duplicates, split overlap, duplicate quads, and same-span sentiment conflicts in prepared_clean. Sentiment normalization is an automatic heuristic, not human adjudication.</a:t>
            </a:r>
          </a:p>
          <a:p/>
          <a:p>
            <a:r>
              <a:t>Sources:</a:t>
            </a:r>
          </a:p>
          <a:p>
            <a:r>
              <a:t>https://github.com/EthAIResearch/acos-amharic/blob/7e40773050395fcd5a9c0408ec0c3206a81550d4/data/clean_dataset.py</a:t>
            </a:r>
          </a:p>
          <a:p>
            <a:r>
              <a:t>https://github.com/EthAIResearch/acos-amharic/blob/7e40773050395fcd5a9c0408ec0c3206a81550d4/data/prepared_clean/cleaning_report.json</a:t>
            </a:r>
          </a:p>
          <a:p>
            <a:r>
              <a:t>https://github.com/EthAIResearch/acos-amharic/pull/104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audit: 2026-10-02</a:t>
            </a:r>
          </a:p>
          <a:p>
            <a:r>
              <a:t>22 Declared Categories; 23 Observed Labels</a:t>
            </a:r>
          </a:p>
          <a:p/>
          <a:p>
            <a:r>
              <a:t>ECONOMY#UTILITIES occurs once in original and clean test data, never in train/dev, and is absent from CATEGORIES and label_space.json. Older README says 13; v3.0 says 29. Neither matches current declared metadata.</a:t>
            </a:r>
          </a:p>
          <a:p/>
          <a:p>
            <a:r>
              <a:t>Sources:</a:t>
            </a:r>
          </a:p>
          <a:p>
            <a:r>
              <a:t>https://github.com/EthAIResearch/acos-amharic/blob/7e40773050395fcd5a9c0408ec0c3206a81550d4/data/prepared/label_space.json</a:t>
            </a:r>
          </a:p>
          <a:p>
            <a:r>
              <a:t>https://github.com/EthAIResearch/acos-amharic/blob/7e40773050395fcd5a9c0408ec0c3206a81550d4/src/stage_byt5_acos/linearization.py</a:t>
            </a:r>
          </a:p>
          <a:p>
            <a:r>
              <a:t>https://github.com/EthAIResearch/acos-amharic/blob/7e40773050395fcd5a9c0408ec0c3206a81550d4/data/prepared_clean/test.jsonl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audit: 2026-10-02</a:t>
            </a:r>
          </a:p>
          <a:p>
            <a:r>
              <a:t>Explicit and NULL Fields in the Actual Dataset</a:t>
            </a:r>
          </a:p>
          <a:p/>
          <a:p>
            <a:r>
              <a:t>Examples are read directly from 1-based rows 3367 and 151. The implicit example has a category annotation without an explicit educational target, illustrating why human adjudication is important.</a:t>
            </a:r>
          </a:p>
          <a:p/>
          <a:p>
            <a:r>
              <a:t>Sources:</a:t>
            </a:r>
          </a:p>
          <a:p>
            <a:r>
              <a:t>https://github.com/EthAIResearch/acos-amharic/blob/7e40773050395fcd5a9c0408ec0c3206a81550d4/data/prepared/test.jsonl#L3367</a:t>
            </a:r>
          </a:p>
          <a:p>
            <a:r>
              <a:t>https://github.com/EthAIResearch/acos-amharic/blob/7e40773050395fcd5a9c0408ec0c3206a81550d4/data/prepared/test.jsonl#L151</a:t>
            </a:r>
          </a:p>
          <a:p>
            <a:r>
              <a:t>https://github.com/EthAIResearch/acos-amharic/blob/7e40773050395fcd5a9c0408ec0c3206a81550d4/src/stage_byt5_acos/linearization.py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audit: 2026-10-02</a:t>
            </a:r>
          </a:p>
          <a:p>
            <a:r>
              <a:t>Six Stages, Including Learned Implicit Handling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https://github.com/EthAIResearch/acos-amharic/blob/7e40773050395fcd5a9c0408ec0c3206a81550d4/src/pipeline/run_inference.py</a:t>
            </a:r>
          </a:p>
          <a:p>
            <a:r>
              <a:t>https://github.com/EthAIResearch/acos-amharic/blob/7e40773050395fcd5a9c0408ec0c3206a81550d4/src/pipeline/assemble_quads.py</a:t>
            </a:r>
          </a:p>
          <a:p>
            <a:r>
              <a:t>https://github.com/EthAIResearch/acos-amharic/pull/47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audit: 2026-10-02</a:t>
            </a:r>
          </a:p>
          <a:p>
            <a:r>
              <a:t>Backbone Benchmarks Across Three Subtasks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https://github.com/EthAIResearch/acos-amharic/tree/7e40773050395fcd5a9c0408ec0c3206a81550d4/results/stage1/</a:t>
            </a:r>
          </a:p>
          <a:p>
            <a:r>
              <a:t>https://github.com/EthAIResearch/acos-amharic/tree/7e40773050395fcd5a9c0408ec0c3206a81550d4/results/stage3/</a:t>
            </a:r>
          </a:p>
          <a:p>
            <a:r>
              <a:t>https://github.com/EthAIResearch/acos-amharic/tree/7e40773050395fcd5a9c0408ec0c3206a81550d4/results/stage4/</a:t>
            </a:r>
          </a:p>
          <a:p>
            <a:r>
              <a:t>https://github.com/EthAIResearch/acos-amharic/pull/36</a:t>
            </a:r>
          </a:p>
          <a:p>
            <a:r>
              <a:t>https://github.com/EthAIResearch/acos-amharic/pull/33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audit: 2026-10-02</a:t>
            </a:r>
          </a:p>
          <a:p>
            <a:r>
              <a:t>Detection Is Not Complete Quadruple Recovery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https://github.com/EthAIResearch/acos-amharic/blob/7e40773050395fcd5a9c0408ec0c3206a81550d4/docs/stage5_implicit_analysis.md</a:t>
            </a:r>
          </a:p>
          <a:p>
            <a:r>
              <a:t>https://github.com/EthAIResearch/acos-amharic/tree/7e40773050395fcd5a9c0408ec0c3206a81550d4/results/stage5/</a:t>
            </a:r>
          </a:p>
          <a:p>
            <a:r>
              <a:t>https://github.com/EthAIResearch/acos-amharic/blob/7e40773050395fcd5a9c0408ec0c3206a81550d4/configs/stage6_pipeline.yaml</a:t>
            </a:r>
          </a:p>
          <a:p>
            <a:r>
              <a:t>https://github.com/EthAIResearch/acos-amharic/pull/34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audit: 2026-10-02</a:t>
            </a:r>
          </a:p>
          <a:p>
            <a:r>
              <a:t>Error Propagation: Measured, Not an F1 Product</a:t>
            </a:r>
          </a:p>
          <a:p/>
          <a:p>
            <a:r>
              <a:t>The original deck's 14.2% is a historical narrative figure, not independently reproduced here. Multiplying component F1 scores is not an end-to-end recall derivation.</a:t>
            </a:r>
          </a:p>
          <a:p/>
          <a:p>
            <a:r>
              <a:t>Sources:</a:t>
            </a:r>
          </a:p>
          <a:p>
            <a:r>
              <a:t>https://github.com/EthAIResearch/acos-amharic/issues/51</a:t>
            </a:r>
          </a:p>
          <a:p>
            <a:r>
              <a:t>https://github.com/EthAIResearch/acos-amharic/blob/7e40773050395fcd5a9c0408ec0c3206a81550d4/docs/stage2_pairing_analysis.md</a:t>
            </a:r>
          </a:p>
          <a:p>
            <a:r>
              <a:t>https://github.com/EthAIResearch/acos-amharic/blob/7e40773050395fcd5a9c0408ec0c3206a81550d4/src/pipeline/run_inference.py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audit: 2026-10-02</a:t>
            </a:r>
          </a:p>
          <a:p>
            <a:r>
              <a:t>SDRN: Entity and Relation Feedback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https://github.com/EthAIResearch/acos-amharic/blob/7e40773050395fcd5a9c0408ec0c3206a81550d4/src/stage_aope_sdrn/model.py</a:t>
            </a:r>
          </a:p>
          <a:p>
            <a:r>
              <a:t>https://github.com/EthAIResearch/acos-amharic/blob/7e40773050395fcd5a9c0408ec0c3206a81550d4/src/stage_aope_sdrn/crf.py</a:t>
            </a:r>
          </a:p>
          <a:p>
            <a:r>
              <a:t>https://github.com/EthAIResearch/acos-amharic/pull/64</a:t>
            </a:r>
          </a:p>
          <a:p>
            <a:r>
              <a:t>https://github.com/EthAIResearch/acos-amharic/pull/75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audit: 2026-10-02</a:t>
            </a:r>
          </a:p>
          <a:p>
            <a:r>
              <a:t>What Helped, and What Did Not</a:t>
            </a:r>
          </a:p>
          <a:p/>
          <a:p>
            <a:r>
              <a:t>CRF Run 1 best_metrics uses threshold 0.20; other rows are recorded defaults around 0.50. Do not interpret these as identical operating points.</a:t>
            </a:r>
          </a:p>
          <a:p/>
          <a:p>
            <a:r>
              <a:t>Sources:</a:t>
            </a:r>
          </a:p>
          <a:p>
            <a:r>
              <a:t>https://github.com/EthAIResearch/acos-amharic/tree/7e40773050395fcd5a9c0408ec0c3206a81550d4/results/stage_aope_sdrn/</a:t>
            </a:r>
          </a:p>
          <a:p>
            <a:r>
              <a:t>https://github.com/EthAIResearch/acos-amharic/pull/70</a:t>
            </a:r>
          </a:p>
          <a:p>
            <a:r>
              <a:t>https://github.com/EthAIResearch/acos-amharic/pull/78</a:t>
            </a:r>
          </a:p>
          <a:p>
            <a:r>
              <a:t>https://github.com/EthAIResearch/acos-amharic/pull/80</a:t>
            </a:r>
          </a:p>
          <a:p>
            <a:r>
              <a:t>https://github.com/EthAIResearch/acos-amharic/issues/76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audit: 2026-10-02</a:t>
            </a:r>
          </a:p>
          <a:p>
            <a:r>
              <a:t>Seen vs. Unseen: Token Overlap &amp; Span Boundary Breakdown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https://github.com/EthAIResearch/acos-amharic/blob/7e40773050395fcd5a9c0408ec0c3206a81550d4/results/stage_aope_sdrn/afroxlmr_word_sdrn_run1/seen_unseen_diagnostic.json</a:t>
            </a:r>
          </a:p>
          <a:p>
            <a:r>
              <a:t>https://github.com/EthAIResearch/acos-amharic/issues/76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audit: 2026-10-02</a:t>
            </a:r>
          </a:p>
          <a:p>
            <a:r>
              <a:t>Candidate Coverage Is Not Final Pair Recall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https://github.com/EthAIResearch/acos-amharic/blob/7e40773050395fcd5a9c0408ec0c3206a81550d4/results/stage_aope_sdrn/afroxlmr_crf_run1/best_metrics.json</a:t>
            </a:r>
          </a:p>
          <a:p>
            <a:r>
              <a:t>https://github.com/EthAIResearch/acos-amharic/blob/7e40773050395fcd5a9c0408ec0c3206a81550d4/results/stage_span_aste/afroxlmr_pooled_focal_run3/best_metrics.json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audit: 2026-10-02</a:t>
            </a:r>
          </a:p>
          <a:p>
            <a:r>
              <a:t>Span-ASTE: Enumerate, Prune, Then Classify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https://github.com/EthAIResearch/acos-amharic/blob/7e40773050395fcd5a9c0408ec0c3206a81550d4/src/stage_span_aste/model.py</a:t>
            </a:r>
          </a:p>
          <a:p>
            <a:r>
              <a:t>https://github.com/EthAIResearch/acos-amharic/blob/7e40773050395fcd5a9c0408ec0c3206a81550d4/src/stage_span_aste/span_utils.py</a:t>
            </a:r>
          </a:p>
          <a:p>
            <a:r>
              <a:t>https://github.com/EthAIResearch/acos-amharic/pull/82</a:t>
            </a:r>
          </a:p>
          <a:p>
            <a:r>
              <a:t>https://github.com/EthAIResearch/acos-amharic/pull/88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audit: 2026-10-02</a:t>
            </a:r>
          </a:p>
          <a:p>
            <a:r>
              <a:t>High Candidate Coverage, Low Conversion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https://github.com/EthAIResearch/acos-amharic/blob/7e40773050395fcd5a9c0408ec0c3206a81550d4/results/stage_span_aste/afroxlmr_run1/best_metrics.json</a:t>
            </a:r>
          </a:p>
          <a:p>
            <a:r>
              <a:t>https://github.com/EthAIResearch/acos-amharic/issues/84</a:t>
            </a:r>
          </a:p>
          <a:p>
            <a:r>
              <a:t>https://github.com/EthAIResearch/acos-amharic/pull/86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Evidence audit: 2026-10-02</a:t>
            </a:r>
          </a:p>
          <a:p>
            <a:r>
              <a:t>Bibliography (retained from v3.0)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https://github.com/EthAIResearch/acos-amharic/blob/7e40773050395fcd5a9c0408ec0c3206a81550d4/docs/references.md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audit: 2026-10-02</a:t>
            </a:r>
          </a:p>
          <a:p>
            <a:r>
              <a:t>Full-Span Pooling and Cost-Sensitive Loss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https://github.com/EthAIResearch/acos-amharic/blob/7e40773050395fcd5a9c0408ec0c3206a81550d4/src/stage_span_aste/model.py</a:t>
            </a:r>
          </a:p>
          <a:p>
            <a:r>
              <a:t>https://github.com/EthAIResearch/acos-amharic/blob/7e40773050395fcd5a9c0408ec0c3206a81550d4/results/stage_span_aste/afroxlmr_pooled_focal_run3/resolved_args.json</a:t>
            </a:r>
          </a:p>
          <a:p>
            <a:r>
              <a:t>https://github.com/EthAIResearch/acos-amharic/pull/93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audit: 2026-10-02</a:t>
            </a:r>
          </a:p>
          <a:p>
            <a:r>
              <a:t>More Opinions Found, Not a Universal F1 Gain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https://github.com/EthAIResearch/acos-amharic/blob/7e40773050395fcd5a9c0408ec0c3206a81550d4/results/stage_span_aste/afroxlmr_run1/best_metrics.json</a:t>
            </a:r>
          </a:p>
          <a:p>
            <a:r>
              <a:t>https://github.com/EthAIResearch/acos-amharic/blob/7e40773050395fcd5a9c0408ec0c3206a81550d4/results/stage_span_aste/afroxlmr_pooled_focal_run3/best_metrics.json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audit: 2026-10-02</a:t>
            </a:r>
          </a:p>
          <a:p>
            <a:r>
              <a:t>Dev-Tuned Results Are Not Test-Selected Peaks</a:t>
            </a:r>
          </a:p>
          <a:p/>
          <a:p>
            <a:r>
              <a:t>best_metrics and threshold_sweep do not exactly reproduce each other at 0.50. Keep their provenance separate; do not mix counts or derive gains across files without rerunning a frozen evaluator.</a:t>
            </a:r>
          </a:p>
          <a:p/>
          <a:p>
            <a:r>
              <a:t>Sources:</a:t>
            </a:r>
          </a:p>
          <a:p>
            <a:r>
              <a:t>https://github.com/EthAIResearch/acos-amharic/blob/7e40773050395fcd5a9c0408ec0c3206a81550d4/results/stage_span_aste/afroxlmr_biaffine_run2/dev_threshold_sweep.json</a:t>
            </a:r>
          </a:p>
          <a:p>
            <a:r>
              <a:t>https://github.com/EthAIResearch/acos-amharic/blob/7e40773050395fcd5a9c0408ec0c3206a81550d4/results/stage_span_aste/afroxlmr_pooled_focal_run3/threshold_sweep.json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audit: 2026-10-02</a:t>
            </a:r>
          </a:p>
          <a:p>
            <a:r>
              <a:t>ByT5: One Model for Explicit and Implicit Quads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https://github.com/EthAIResearch/acos-amharic/blob/7e40773050395fcd5a9c0408ec0c3206a81550d4/src/stage_byt5_acos/model.py</a:t>
            </a:r>
          </a:p>
          <a:p>
            <a:r>
              <a:t>https://github.com/EthAIResearch/acos-amharic/blob/7e40773050395fcd5a9c0408ec0c3206a81550d4/src/stage_byt5_acos/dataset.py</a:t>
            </a:r>
          </a:p>
          <a:p>
            <a:r>
              <a:t>https://github.com/EthAIResearch/acos-amharic/blob/7e40773050395fcd5a9c0408ec0c3206a81550d4/src/stage_byt5_acos/linearization.py</a:t>
            </a:r>
          </a:p>
          <a:p>
            <a:r>
              <a:t>https://github.com/EthAIResearch/acos-amharic/pull/95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audit: 2026-10-02</a:t>
            </a:r>
          </a:p>
          <a:p>
            <a:r>
              <a:t>The Recorded Training Setup</a:t>
            </a:r>
          </a:p>
          <a:p/>
          <a:p>
            <a:r>
              <a:t>The issue reports NaN loss under FP16 and a switch to BF16. Timing and memory reduction claims are issue-level observations, not profiled artifacts reproduced in this audit.</a:t>
            </a:r>
          </a:p>
          <a:p/>
          <a:p>
            <a:r>
              <a:t>Sources:</a:t>
            </a:r>
          </a:p>
          <a:p>
            <a:r>
              <a:t>https://github.com/EthAIResearch/acos-amharic/blob/7e40773050395fcd5a9c0408ec0c3206a81550d4/results/stage_byt5_acos/byt5_base_run1/resolved_args.json</a:t>
            </a:r>
          </a:p>
          <a:p>
            <a:r>
              <a:t>https://github.com/EthAIResearch/acos-amharic/blob/7e40773050395fcd5a9c0408ec0c3206a81550d4/src/stage_byt5_acos/train.py</a:t>
            </a:r>
          </a:p>
          <a:p>
            <a:r>
              <a:t>https://github.com/EthAIResearch/acos-amharic/issues/98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audit: 2026-10-02</a:t>
            </a:r>
          </a:p>
          <a:p>
            <a:r>
              <a:t>ByT5 Dev: Strict Quadruple and Subtask Metrics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https://github.com/EthAIResearch/acos-amharic/blob/7e40773050395fcd5a9c0408ec0c3206a81550d4/results/stage_byt5_acos/byt5_base_run1/best_dev_metrics.json</a:t>
            </a:r>
          </a:p>
          <a:p>
            <a:r>
              <a:t>https://github.com/EthAIResearch/acos-amharic/issues/98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audit: 2026-10-02</a:t>
            </a:r>
          </a:p>
          <a:p>
            <a:r>
              <a:t>ByT5 Test: Strict Quadruple and Subtask Metrics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https://github.com/EthAIResearch/acos-amharic/blob/7e40773050395fcd5a9c0408ec0c3206a81550d4/results/stage_byt5_acos/byt5_base_run1/test_metrics.json</a:t>
            </a:r>
          </a:p>
          <a:p>
            <a:r>
              <a:t>https://github.com/EthAIResearch/acos-amharic/issues/98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audit: 2026-10-02</a:t>
            </a:r>
          </a:p>
          <a:p>
            <a:r>
              <a:t>Constrained Decoding and Linguistic Diagnostics</a:t>
            </a:r>
          </a:p>
          <a:p/>
          <a:p>
            <a:r>
              <a:t>Reproduced with the repository's mock tokenizer: '[ item | PUBLIC_SAFETY#CRIME ' allows only a space, not '|'. The same occurs after completed sentiment plus space. Inline review discussion_r4105131434 identifies this issue.</a:t>
            </a:r>
          </a:p>
          <a:p/>
          <a:p>
            <a:r>
              <a:t>Sources:</a:t>
            </a:r>
          </a:p>
          <a:p>
            <a:r>
              <a:t>https://github.com/EthAIResearch/acos-amharic/blob/7e40773050395fcd5a9c0408ec0c3206a81550d4/src/stage_byt5_acos/constrained_decoder.py</a:t>
            </a:r>
          </a:p>
          <a:p>
            <a:r>
              <a:t>https://github.com/EthAIResearch/acos-amharic/blob/7e40773050395fcd5a9c0408ec0c3206a81550d4/src/stage_byt5_acos/evaluate.py</a:t>
            </a:r>
          </a:p>
          <a:p>
            <a:r>
              <a:t>https://github.com/EthAIResearch/acos-amharic/blob/7e40773050395fcd5a9c0408ec0c3206a81550d4/tests/test_constrained_decoder.py</a:t>
            </a:r>
          </a:p>
          <a:p>
            <a:r>
              <a:t>https://github.com/EthAIResearch/acos-amharic/pull/100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audit: 2026-10-02</a:t>
            </a:r>
          </a:p>
          <a:p>
            <a:r>
              <a:t>ByT5 Run 2: Implemented, Not Yet Measured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https://github.com/EthAIResearch/acos-amharic/blob/7e40773050395fcd5a9c0408ec0c3206a81550d4/src/stage_byt5_acos/linearization.py</a:t>
            </a:r>
          </a:p>
          <a:p>
            <a:r>
              <a:t>https://github.com/EthAIResearch/acos-amharic/blob/7e40773050395fcd5a9c0408ec0c3206a81550d4/src/stage_byt5_acos/train.py</a:t>
            </a:r>
          </a:p>
          <a:p>
            <a:r>
              <a:t>https://github.com/EthAIResearch/acos-amharic/blob/7e40773050395fcd5a9c0408ec0c3206a81550d4/configs/stage_byt5_acos_run2.yaml</a:t>
            </a:r>
          </a:p>
          <a:p>
            <a:r>
              <a:t>https://github.com/EthAIResearch/acos-amharic/pull/101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audit: 2026-10-02</a:t>
            </a:r>
          </a:p>
          <a:p>
            <a:r>
              <a:t>Two Evaluation Populations, Not One Leaderboard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https://github.com/EthAIResearch/acos-amharic/blob/7e40773050395fcd5a9c0408ec0c3206a81550d4/results/stage_aope_sdrn/afroxlmr_crf_run1/best_metrics.json</a:t>
            </a:r>
          </a:p>
          <a:p>
            <a:r>
              <a:t>https://github.com/EthAIResearch/acos-amharic/tree/7e40773050395fcd5a9c0408ec0c3206a81550d4/results/stage_span_aste/</a:t>
            </a:r>
          </a:p>
          <a:p>
            <a:r>
              <a:t>https://github.com/EthAIResearch/acos-amharic/blob/7e40773050395fcd5a9c0408ec0c3206a81550d4/results/stage_byt5_acos/byt5_base_run1/test_metrics.json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audit: 2026-10-02</a:t>
            </a:r>
          </a:p>
          <a:p>
            <a:r>
              <a:t>Exact Match, Subsets and Morphology Must Stay Separate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https://github.com/EthAIResearch/acos-amharic/blob/7e40773050395fcd5a9c0408ec0c3206a81550d4/src/pipeline/evaluate.py</a:t>
            </a:r>
          </a:p>
          <a:p>
            <a:r>
              <a:t>https://github.com/EthAIResearch/acos-amharic/blob/7e40773050395fcd5a9c0408ec0c3206a81550d4/src/stage_byt5_acos/evaluate.py</a:t>
            </a:r>
          </a:p>
          <a:p>
            <a:r>
              <a:t>https://github.com/EthAIResearch/acos-amharic/blob/7e40773050395fcd5a9c0408ec0c3206a81550d4/src/stage_byt5_acos/linearization.py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audit: 2026-10-02</a:t>
            </a:r>
          </a:p>
          <a:p>
            <a:r>
              <a:t>The 500-Sample Files Are Not an LLM Leaderboard</a:t>
            </a:r>
          </a:p>
          <a:p/>
          <a:p>
            <a:r>
              <a:t>No external model API was called in this update. The hybrid benchmark imports 100 fixed predictions and generates the remaining 400 using a keyword lexicon and span heuristics. The other JSON lacks model/version/prompt/request-status metadata.</a:t>
            </a:r>
          </a:p>
          <a:p/>
          <a:p>
            <a:r>
              <a:t>Sources:</a:t>
            </a:r>
          </a:p>
          <a:p>
            <a:r>
              <a:t>Local working-tree file (not committed at audit): scripts/benchmark_llm_500.py</a:t>
            </a:r>
          </a:p>
          <a:p>
            <a:r>
              <a:t>Local working-tree file (not committed at audit): scripts/llm_benchmark_full_500.py</a:t>
            </a:r>
          </a:p>
          <a:p>
            <a:r>
              <a:t>Local working-tree file (not committed at audit): results/llm_test_500_benchmark.json</a:t>
            </a:r>
          </a:p>
          <a:p>
            <a:r>
              <a:t>Local working-tree file (not committed at audit): results/llm_benchmark_500.json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audit: 2026-10-02</a:t>
            </a:r>
          </a:p>
          <a:p>
            <a:r>
              <a:t>What Exists, and What Still Needs Verification</a:t>
            </a:r>
          </a:p>
          <a:p/>
          <a:p>
            <a:r>
              <a:t>Static inventory: 12 test files with 88 test functions. CI installs ruff, pytest and pyyaml, not PyTorch/Transformers; optional guards can return without exercising tensor paths. Full ML training and GPU tests were not run for this presentation update.</a:t>
            </a:r>
          </a:p>
          <a:p/>
          <a:p>
            <a:r>
              <a:t>Sources:</a:t>
            </a:r>
          </a:p>
          <a:p>
            <a:r>
              <a:t>https://github.com/EthAIResearch/acos-amharic/tree/7e40773050395fcd5a9c0408ec0c3206a81550d4/src/common/</a:t>
            </a:r>
          </a:p>
          <a:p>
            <a:r>
              <a:t>https://github.com/EthAIResearch/acos-amharic/tree/7e40773050395fcd5a9c0408ec0c3206a81550d4/src/pipeline/</a:t>
            </a:r>
          </a:p>
          <a:p>
            <a:r>
              <a:t>https://github.com/EthAIResearch/acos-amharic/tree/7e40773050395fcd5a9c0408ec0c3206a81550d4/tests/</a:t>
            </a:r>
          </a:p>
          <a:p>
            <a:r>
              <a:t>https://github.com/EthAIResearch/acos-amharic/blob/7e40773050395fcd5a9c0408ec0c3206a81550d4/.github/workflows/ci.yml</a:t>
            </a:r>
          </a:p>
          <a:p>
            <a:r>
              <a:t>https://github.com/EthAIResearch/acos-amharic/blob/7e40773050395fcd5a9c0408ec0c3206a81550d4/configs/stage_aope_sdrn_clean.yaml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audit: 2026-10-02</a:t>
            </a:r>
          </a:p>
          <a:p>
            <a:r>
              <a:t>Data and Evaluation Before Another Scale-Up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https://github.com/EthAIResearch/acos-amharic/pull/100</a:t>
            </a:r>
          </a:p>
          <a:p>
            <a:r>
              <a:t>https://github.com/EthAIResearch/acos-amharic/pull/101</a:t>
            </a:r>
          </a:p>
          <a:p>
            <a:r>
              <a:t>https://github.com/EthAIResearch/acos-amharic/issues/103</a:t>
            </a:r>
          </a:p>
          <a:p>
            <a:r>
              <a:t>https://github.com/EthAIResearch/acos-amharic/pull/104</a:t>
            </a:r>
          </a:p>
          <a:p>
            <a:r>
              <a:t>https://github.com/EthAIResearch/acos-amharic/pull/105</a:t>
            </a:r>
          </a:p>
          <a:p>
            <a:r>
              <a:t>https://github.com/EthAIResearch/acos-amharic/blob/7e40773050395fcd5a9c0408ec0c3206a81550d4/configs/stage_byt5_acos_run2.yaml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audit: 2026-10-02</a:t>
            </a:r>
          </a:p>
          <a:p>
            <a:r>
              <a:t>Repository-Wide Review Behind This Update</a:t>
            </a:r>
          </a:p>
          <a:p/>
          <a:p>
            <a:r>
              <a:t>Reviewed issue/PR bodies, changed-file inventories, discussion/review records and the working-tree implementation/results. This is a presentation evidence audit, not an exhaustive security or line-by-line correctness audit.</a:t>
            </a:r>
          </a:p>
          <a:p/>
          <a:p>
            <a:r>
              <a:t>Sources:</a:t>
            </a:r>
          </a:p>
          <a:p>
            <a:r>
              <a:t>https://github.com/EthAIResearch/acos-amharic/pull/105</a:t>
            </a:r>
          </a:p>
          <a:p>
            <a:r>
              <a:t>Local working-tree file (not committed at audit): docs/presentation_v4_audit.md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3D5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2377440"/>
          </a:xfrm>
          <a:prstGeom prst="rect">
            <a:avLst/>
          </a:prstGeom>
          <a:solidFill>
            <a:srgbClr val="0E4A70">
              <a:alpha val="70000"/>
            </a:srgbClr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40080" y="777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9F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AMHARIC ACOS QUADRUPLE EXTRACTION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3444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Towards End-to-End Amharic Aspect–Category–Opinion–Sentiment (ACOS) Quadruple Extraction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63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6-Stage Extractive Pipelines to Byte-Level Generative Foundation Models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703320"/>
            <a:ext cx="4754880" cy="0"/>
          </a:xfrm>
          <a:prstGeom prst="line">
            <a:avLst/>
          </a:prstGeom>
          <a:noFill/>
          <a:ln w="31750">
            <a:solidFill>
              <a:srgbClr val="D97D3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40080" y="402336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  </a:t>
            </a:r>
            <a:pPr indent="0" marL="0">
              <a:buNone/>
            </a:pPr>
            <a:r>
              <a:rPr lang="en-US" sz="1300" dirty="0">
                <a:solidFill>
                  <a:srgbClr val="E7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Azariyas Mekonen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425696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Domain   </a:t>
            </a:r>
            <a:pPr indent="0" marL="0">
              <a:buNone/>
            </a:pPr>
            <a:r>
              <a:rPr lang="en-US" sz="1300" dirty="0">
                <a:solidFill>
                  <a:srgbClr val="E7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Amharic Civic &amp; Governance Commentary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8280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  </a:t>
            </a:r>
            <a:pPr indent="0" marL="0">
              <a:buNone/>
            </a:pPr>
            <a:r>
              <a:rPr lang="en-US" sz="1300" dirty="0">
                <a:solidFill>
                  <a:srgbClr val="E7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ByT5 Run 1 Results + Implementation &amp; Data Audit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230368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  </a:t>
            </a:r>
            <a:pPr indent="0" marL="0">
              <a:buNone/>
            </a:pPr>
            <a:r>
              <a:rPr lang="en-US" sz="1300" dirty="0">
                <a:solidFill>
                  <a:srgbClr val="E7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github.com/EthAIResearch/acos-amharic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309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2026  ·  Technical Report</a:t>
            </a:r>
            <a:endParaRPr lang="en-US" sz="1100" dirty="0"/>
          </a:p>
        </p:txBody>
      </p:sp>
      <p:sp>
        <p:nvSpPr>
          <p:cNvPr id="13" name="TextBox 12"/>
          <p:cNvSpPr txBox="1"/>
          <p:nvPr/>
        </p:nvSpPr>
        <p:spPr>
          <a:xfrm>
            <a:off x="640080" y="58978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A6CADB"/>
                </a:solidFill>
                <a:latin typeface="Calibri"/>
              </a:defRPr>
            </a:pPr>
            <a:r>
              <a:t>v4.0 | Repository evidence update: 2 October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50040" y="6492240"/>
            <a:ext cx="3474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36777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Bibliography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34440"/>
            <a:ext cx="11155680" cy="539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Xu, L., Chia, Y. K., &amp; Bing, L. (2021). Learning Span-Level Interactions for Aspect Sentiment Triplet Extraction. Proceedings of ACL-IJCNLP 2021.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Chen, S., Wang, Y., Liu, J., &amp; Wang, Y. (2020). Synchronous Double-Channel Recurrent Network for Aspect-Opinion Pair Extraction. Proceedings of ACL 2020.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Cai, H., Xia, R., &amp; Yu, J. (2021). Aspect-Category-Opinion-Sentiment Quadruple Extraction with Implicit Aspects and Opinions. Proceedings of ACL-IJCNLP 2021.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Dozat, T., &amp; Manning, C. D. (2017). Deep Biaffine Attention for Neural Dependency Parsing. International Conference on Learning Representations (ICLR).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Lin, T.-Y., Goyal, P., Girshick, R., He, K., &amp; Dollár, P. (2017). Focal Loss for Dense Object Detection. Proceedings of ICCV 2017.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Xue, L., Barua, A., Constant, N., Al-Rfou, R., Narang, S., Kale, M., Roberts, A., &amp; Raffel, C. (2022). ByT5: Towards a Token-Free Future with Pre-trained Byte-to-Byte Models. Transactions of the ACL (TACL), 10.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Raffel, C., Shazeer, N., Roberts, A., Lee, K., Narang, S., Matena, M., Zhou, Y., Li, W., &amp; Liu, P. J. (2020). Exploring the Limits of Transfer Learning with a Unified Text-to-Text Transformer. Journal of Machine Learning Research (JMLR), 21.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Shazeer, N., &amp; Stern, M. (2018). Adafactor: Adaptive Learning Rates with Sublinear Memory Cost. Proceedings of ICML 2018.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Conneau, A., Khandelwal, K., Goyal, N., Chaudhary, V., Wenzek, G., Guzmán, F., Grave, E., Ott, M., Zettlemoyer, L., &amp; Stoyanov, V. (2020). Unsupervised Cross-lingual Representation Learning at Scale (XLM-R). Proceedings of ACL 2020.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Alabi, J. O., Adelani, D. I., Mosbach, M., &amp; Klakow, D. (2022). Adapting Pre-trained Language Models to African Languages via Multilingual Adaptive Fine-Tuning (AfroXLM-R). Proceedings of COLING 2022.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 Mekonen, A. (2026). acos-amharic: End-to-End Amharic ACOS Quadruple Extraction [Source code repository]. github.com/EthAIResearch/acos-amharic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 rasyosef/roberta-base-amharic and Davlan/afro-xlmr-base model cards. Hugging Face Model Hub.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16586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PROBLEM FORMULATION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2B38"/>
                </a:solidFill>
                <a:latin typeface="Cambria"/>
              </a:defRPr>
            </a:pPr>
            <a:r>
              <a:t>Amharic ACOS: Four Fields, One Exact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4358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36777"/>
                </a:solidFill>
                <a:latin typeface="Calibri"/>
              </a:defRPr>
            </a:pPr>
            <a:r>
              <a:t>Output a set of aspect-category-sentiment-opinion tuples for each civic-domain sentence.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src/common/data_prep.py | src/stage_byt5_acos/linearization.py | src/pipeline/evaluate.py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11155680" cy="868680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39112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104563"/>
                </a:solidFill>
                <a:latin typeface="Calibri"/>
              </a:defRPr>
            </a:pPr>
            <a:r>
              <a:t>[ aspect | category | sentiment | opinion ] ; 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8036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202B38"/>
                </a:solidFill>
                <a:latin typeface="Calibri"/>
              </a:defRPr>
            </a:pPr>
            <a:r>
              <a:t>NULL = an implicit aspect or opinion. None = a sentence with no quadruples.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3429000"/>
          <a:ext cx="111556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291840"/>
                <a:gridCol w="5120640"/>
              </a:tblGrid>
              <a:tr h="5029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Challenge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Evidence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Modeling consequence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Implicit components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42.71% of training quads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Need NULL prediction or implicit classifiers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Unseen opinion phrases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1,969 / 2,983 test opinions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Phrase generalization, not just vocabulary coverage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Rich morphology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Clitics and multi-word opinions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Strict boundaries remain difficult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5577840"/>
            <a:ext cx="11155680" cy="749808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705855"/>
            <a:ext cx="1078992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04563"/>
                </a:solidFill>
                <a:latin typeface="Calibri"/>
              </a:defRPr>
            </a:pPr>
            <a:r>
              <a:t>Unseen surface phrases are not the same as tokenizer &lt;unk&gt; tokens. Byte coverage does not guarantee semantic accuracy.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50040" y="6492240"/>
            <a:ext cx="3474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36777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DATASET AND ANNOTATION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2B38"/>
                </a:solidFill>
                <a:latin typeface="Cambria"/>
              </a:defRPr>
            </a:pPr>
            <a:r>
              <a:t>A Civic-Domain Dataset, Not a Review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4358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36777"/>
                </a:solidFill>
                <a:latin typeface="Calibri"/>
              </a:defRPr>
            </a:pPr>
            <a:r>
              <a:t>Source text: mT5/mC4/OSCAR; Gemini annotations as described in the repository.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data/README.md | data/prepared/train.jsonl | data/prepared/test.jsonl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28800"/>
          <a:ext cx="111556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468880"/>
                <a:gridCol w="2468880"/>
                <a:gridCol w="3017520"/>
              </a:tblGrid>
              <a:tr h="64008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Original split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Sentences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Quadruples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Implicit quads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Train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39,261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41,224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42.71%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Dev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4,907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5,129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42.80%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Test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4,909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5,138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41.94%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663440"/>
            <a:ext cx="111556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02B38"/>
                </a:solidFill>
                <a:latin typeface="Calibri"/>
              </a:defRPr>
            </a:pPr>
            <a:r>
              <a:t>Explicit-only training: 22,765 sentences / 23,617 quads.</a:t>
            </a:r>
          </a:p>
          <a:p>
            <a:pPr>
              <a:spcAft>
                <a:spcPts val="800"/>
              </a:spcAft>
              <a:defRPr sz="1900" b="0">
                <a:solidFill>
                  <a:srgbClr val="202B38"/>
                </a:solidFill>
                <a:latin typeface="Calibri"/>
              </a:defRPr>
            </a:pPr>
            <a:r>
              <a:t>Implicitness is split-specific: 42.71% in train, 41.94% in the original test set.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349240"/>
            <a:ext cx="11155680" cy="749808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477255"/>
            <a:ext cx="1078992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04563"/>
                </a:solidFill>
                <a:latin typeface="Calibri"/>
              </a:defRPr>
            </a:pPr>
            <a:r>
              <a:t>LLM annotation is a provenance fact, not a quality guarantee. Human adjudication remains a research requirement.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50040" y="6492240"/>
            <a:ext cx="3474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36777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DATA QUALITY | ISSUE #103, PR #104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2B38"/>
                </a:solidFill>
                <a:latin typeface="Cambria"/>
              </a:defRPr>
            </a:pPr>
            <a:r>
              <a:t>A Cleaned Dataset Is Now Available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4358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36777"/>
                </a:solidFill>
                <a:latin typeface="Calibri"/>
              </a:defRPr>
            </a:pPr>
            <a:r>
              <a:t>The cleaning pass changes both training data and evaluation annotations; old scores are historical baselines.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data/clean_dataset.py | data/prepared_clean/cleaning_report.json | GitHub #104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28800"/>
          <a:ext cx="11155680" cy="2231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468880"/>
                <a:gridCol w="2468880"/>
                <a:gridCol w="3017520"/>
              </a:tblGrid>
              <a:tr h="557784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Clean split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Sentences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Quadruples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Implicit quads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Train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38,385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40,426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43.05%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Dev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4,892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5,110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42.80%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Test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4,908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5,133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41.89%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389120"/>
            <a:ext cx="111556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02B38"/>
                </a:solidFill>
                <a:latin typeface="Calibri"/>
              </a:defRPr>
            </a:pPr>
            <a:r>
              <a:t>Merged duplicate rows: 233 train / 5 dev / 1 test. Removed leaked rows: 116 train / 10 dev.</a:t>
            </a:r>
          </a:p>
          <a:p>
            <a:pPr>
              <a:spcAft>
                <a:spcPts val="800"/>
              </a:spcAft>
              <a:defRPr sz="1800" b="0">
                <a:solidFill>
                  <a:srgbClr val="202B38"/>
                </a:solidFill>
                <a:latin typeface="Calibri"/>
              </a:defRPr>
            </a:pPr>
            <a:r>
              <a:t>Dropped 527 training rows over 100 tokens; resolved sentiment conflicts using train-majority labels.</a:t>
            </a:r>
          </a:p>
          <a:p>
            <a:pPr>
              <a:spcAft>
                <a:spcPts val="800"/>
              </a:spcAft>
              <a:defRPr sz="1800" b="0">
                <a:solidFill>
                  <a:srgbClr val="202B38"/>
                </a:solidFill>
                <a:latin typeface="Calibri"/>
              </a:defRPr>
            </a:pPr>
            <a:r>
              <a:t>Original overlap: 68 train-dev / 48 train-test / 10 dev-test texts. Clean overlap: zero.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532120"/>
            <a:ext cx="11155680" cy="749808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660136"/>
            <a:ext cx="1078992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04563"/>
                </a:solidFill>
                <a:latin typeface="Calibri"/>
              </a:defRPr>
            </a:pPr>
            <a:r>
              <a:t>No clean-data model metrics are recorded. Retrain and evaluate all compared models on the same data version.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50040" y="6492240"/>
            <a:ext cx="3474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36777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SCHEMA AND LONG-TAIL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2B38"/>
                </a:solidFill>
                <a:latin typeface="Cambria"/>
              </a:defRPr>
            </a:pPr>
            <a:r>
              <a:t>22 Declared Categories; 23 Observed Labels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4358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36777"/>
                </a:solidFill>
                <a:latin typeface="Calibri"/>
              </a:defRPr>
            </a:pPr>
            <a:r>
              <a:t>The taxonomy is externally fixed. Cleaning preserves labels; it does not reconcile the schema.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data/prepared/label_space.json | src/stage_byt5_acos/linearization.py | data/prepared_clean/test.jsonl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47088"/>
            <a:ext cx="5394960" cy="36576"/>
          </a:xfrm>
          <a:prstGeom prst="rect">
            <a:avLst/>
          </a:prstGeom>
          <a:solidFill>
            <a:srgbClr val="104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539496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04563"/>
                </a:solidFill>
                <a:latin typeface="Cambria"/>
              </a:defRPr>
            </a:pPr>
            <a:r>
              <a:t>Observed contract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60904"/>
            <a:ext cx="539496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02B38"/>
                </a:solidFill>
                <a:latin typeface="Calibri"/>
              </a:defRPr>
            </a:pPr>
            <a:r>
              <a:t>Seven civic domains; 22 labels in label_space.json and ByT5 CATEGORIES.</a:t>
            </a:r>
          </a:p>
          <a:p>
            <a:pPr>
              <a:spcAft>
                <a:spcPts val="800"/>
              </a:spcAft>
              <a:defRPr sz="1900" b="0">
                <a:solidFill>
                  <a:srgbClr val="202B38"/>
                </a:solidFill>
                <a:latin typeface="Calibri"/>
              </a:defRPr>
            </a:pPr>
            <a:r>
              <a:t>A 23rd label, ECONOMY#UTILITIES, occurs once in test and has no training support.</a:t>
            </a:r>
          </a:p>
          <a:p>
            <a:pPr>
              <a:spcAft>
                <a:spcPts val="800"/>
              </a:spcAft>
              <a:defRPr sz="1900" b="0">
                <a:solidFill>
                  <a:srgbClr val="202B38"/>
                </a:solidFill>
                <a:latin typeface="Calibri"/>
              </a:defRPr>
            </a:pPr>
            <a:r>
              <a:t>The strict ByT5 parser rejects that undeclared category.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847088"/>
            <a:ext cx="5394960" cy="36576"/>
          </a:xfrm>
          <a:prstGeom prst="rect">
            <a:avLst/>
          </a:prstGeom>
          <a:solidFill>
            <a:srgbClr val="B85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011680"/>
            <a:ext cx="539496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B85F24"/>
                </a:solidFill>
                <a:latin typeface="Cambria"/>
              </a:defRPr>
            </a:pPr>
            <a:r>
              <a:t>Reporting implications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660904"/>
            <a:ext cx="539496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02B38"/>
                </a:solidFill>
                <a:latin typeface="Calibri"/>
              </a:defRPr>
            </a:pPr>
            <a:r>
              <a:t>Keep the category names unchanged; reconcile the allowed list with the data owner.</a:t>
            </a:r>
          </a:p>
          <a:p>
            <a:pPr>
              <a:spcAft>
                <a:spcPts val="800"/>
              </a:spcAft>
              <a:defRPr sz="1900" b="0">
                <a:solidFill>
                  <a:srgbClr val="202B38"/>
                </a:solidFill>
                <a:latin typeface="Calibri"/>
              </a:defRPr>
            </a:pPr>
            <a:r>
              <a:t>Nine categories are absent from the recorded Stage 3 evaluation.</a:t>
            </a:r>
          </a:p>
          <a:p>
            <a:pPr>
              <a:spcAft>
                <a:spcPts val="800"/>
              </a:spcAft>
              <a:defRPr sz="1900" b="0">
                <a:solidFill>
                  <a:srgbClr val="202B38"/>
                </a:solidFill>
                <a:latin typeface="Calibri"/>
              </a:defRPr>
            </a:pPr>
            <a:r>
              <a:t>Report macro-F1 over present labels AND over all declared labels.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50040" y="6492240"/>
            <a:ext cx="3474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36777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WORKED AMHARIC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2B38"/>
                </a:solidFill>
                <a:latin typeface="Cambria"/>
              </a:defRPr>
            </a:pPr>
            <a:r>
              <a:t>Explicit and NULL Fields in the Actual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4358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36777"/>
                </a:solidFill>
                <a:latin typeface="Calibri"/>
              </a:defRPr>
            </a:pPr>
            <a:r>
              <a:t>Original test annotations, not model predictions or independently adjudicated reference labels.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data/prepared/test.jsonl#L3367 | data/prepared/test.jsonl#L151 | src/stage_byt5_acos/linearization.py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47088"/>
            <a:ext cx="5394960" cy="36576"/>
          </a:xfrm>
          <a:prstGeom prst="rect">
            <a:avLst/>
          </a:prstGeom>
          <a:solidFill>
            <a:srgbClr val="167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5394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04563"/>
                </a:solidFill>
                <a:latin typeface="Cambria"/>
              </a:defRPr>
            </a:pPr>
            <a:r>
              <a:t>Explicit aspect and opinion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79192"/>
            <a:ext cx="53949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500" b="0">
                <a:solidFill>
                  <a:srgbClr val="202B38"/>
                </a:solidFill>
                <a:latin typeface="Droid Sans Ethiopic"/>
              </a:defRPr>
            </a:pPr>
            <a:r>
              <a:t>አማርኛ መማር እፈልጋለሁ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621024"/>
            <a:ext cx="53949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7D97"/>
                </a:solidFill>
                <a:latin typeface="Droid Sans Ethiopic"/>
              </a:defRPr>
            </a:pPr>
            <a:r>
              <a:t>Aspect: አማርኛ መማር</a:t>
            </a:r>
          </a:p>
          <a:p>
            <a:pPr>
              <a:spcAft>
                <a:spcPts val="800"/>
              </a:spcAft>
              <a:defRPr sz="2000" b="0">
                <a:solidFill>
                  <a:srgbClr val="167D97"/>
                </a:solidFill>
                <a:latin typeface="Droid Sans Ethiopic"/>
              </a:defRPr>
            </a:pPr>
            <a:r>
              <a:t>Opinion: እፈልጋለሁ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681728"/>
            <a:ext cx="53949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02B38"/>
                </a:solidFill>
                <a:latin typeface="Calibri"/>
              </a:defRPr>
            </a:pPr>
            <a:r>
              <a:t>Category: PUBLIC_SERVICES#EDUCATION</a:t>
            </a:r>
          </a:p>
          <a:p>
            <a:pPr>
              <a:spcAft>
                <a:spcPts val="800"/>
              </a:spcAft>
              <a:defRPr sz="1600" b="0">
                <a:solidFill>
                  <a:srgbClr val="202B38"/>
                </a:solidFill>
                <a:latin typeface="Calibri"/>
              </a:defRPr>
            </a:pPr>
            <a:r>
              <a:t>Sentiment: POSITIVE  |  Test row: 3367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847088"/>
            <a:ext cx="5394960" cy="36576"/>
          </a:xfrm>
          <a:prstGeom prst="rect">
            <a:avLst/>
          </a:prstGeom>
          <a:solidFill>
            <a:srgbClr val="167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2011680"/>
            <a:ext cx="5394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04563"/>
                </a:solidFill>
                <a:latin typeface="Cambria"/>
              </a:defRPr>
            </a:pPr>
            <a:r>
              <a:t>Implicit aspect; explicit opinion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679192"/>
            <a:ext cx="53949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500" b="0">
                <a:solidFill>
                  <a:srgbClr val="202B38"/>
                </a:solidFill>
                <a:latin typeface="Droid Sans Ethiopic"/>
              </a:defRPr>
            </a:pPr>
            <a:r>
              <a:t>አሁን ዳግም ስለመጣ ደስ ብሎኛል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621024"/>
            <a:ext cx="53949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7D97"/>
                </a:solidFill>
                <a:latin typeface="Droid Sans Ethiopic"/>
              </a:defRPr>
            </a:pPr>
            <a:r>
              <a:t>Aspect: NULL</a:t>
            </a:r>
          </a:p>
          <a:p>
            <a:pPr>
              <a:spcAft>
                <a:spcPts val="800"/>
              </a:spcAft>
              <a:defRPr sz="2000" b="0">
                <a:solidFill>
                  <a:srgbClr val="167D97"/>
                </a:solidFill>
                <a:latin typeface="Droid Sans Ethiopic"/>
              </a:defRPr>
            </a:pPr>
            <a:r>
              <a:t>Opinion: ደስ ብሎኛል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4681728"/>
            <a:ext cx="53949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02B38"/>
                </a:solidFill>
                <a:latin typeface="Calibri"/>
              </a:defRPr>
            </a:pPr>
            <a:r>
              <a:t>Category: PUBLIC_SERVICES#EDUCATION</a:t>
            </a:r>
          </a:p>
          <a:p>
            <a:pPr>
              <a:spcAft>
                <a:spcPts val="800"/>
              </a:spcAft>
              <a:defRPr sz="1600" b="0">
                <a:solidFill>
                  <a:srgbClr val="202B38"/>
                </a:solidFill>
                <a:latin typeface="Calibri"/>
              </a:defRPr>
            </a:pPr>
            <a:r>
              <a:t>Sentiment: POSITIVE  |  Test row: 151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577840"/>
            <a:ext cx="11155680" cy="749808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705855"/>
            <a:ext cx="1078992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04563"/>
                </a:solidFill>
                <a:latin typeface="Calibri"/>
              </a:defRPr>
            </a:pPr>
            <a:r>
              <a:t>An implicit category is an annotation decision, not a recoverable span. These examples motivate human review of contextual labels.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50040" y="6492240"/>
            <a:ext cx="3474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36777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PHASE 1 | IMPLEMENTED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2B38"/>
                </a:solidFill>
                <a:latin typeface="Cambria"/>
              </a:defRPr>
            </a:pPr>
            <a:r>
              <a:t>Six Stages, Including Learned Implicit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4358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36777"/>
                </a:solidFill>
                <a:latin typeface="Calibri"/>
              </a:defRPr>
            </a:pPr>
            <a:r>
              <a:t>Stage 6 consumes predictions from earlier stages; gold-span component scores are diagnostics only.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src/pipeline/run_inference.py | src/pipeline/assemble_quads.py | GitHub #47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48840"/>
            <a:ext cx="1592579" cy="914400"/>
          </a:xfrm>
          <a:prstGeom prst="rect">
            <a:avLst/>
          </a:prstGeom>
          <a:solidFill>
            <a:srgbClr val="104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2286000"/>
            <a:ext cx="1373123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1. Spans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64408"/>
            <a:ext cx="1592579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36777"/>
                </a:solidFill>
                <a:latin typeface="Calibri"/>
              </a:defRPr>
            </a:pPr>
            <a:r>
              <a:t>Shared encoder; dual BIO heads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36648" y="2514600"/>
            <a:ext cx="237744" cy="164592"/>
          </a:xfrm>
          <a:prstGeom prst="rightArrow">
            <a:avLst/>
          </a:prstGeom>
          <a:solidFill>
            <a:srgbClr val="167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15540" y="2148840"/>
            <a:ext cx="1592579" cy="914400"/>
          </a:xfrm>
          <a:prstGeom prst="rect">
            <a:avLst/>
          </a:prstGeom>
          <a:solidFill>
            <a:srgbClr val="167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25268" y="2286000"/>
            <a:ext cx="1373123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2. Pairs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15540" y="3264408"/>
            <a:ext cx="1592579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36777"/>
                </a:solidFill>
                <a:latin typeface="Calibri"/>
              </a:defRPr>
            </a:pPr>
            <a:r>
              <a:t>Union of nearest-distance pairs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49267" y="2514600"/>
            <a:ext cx="237744" cy="164592"/>
          </a:xfrm>
          <a:prstGeom prst="rightArrow">
            <a:avLst/>
          </a:prstGeom>
          <a:solidFill>
            <a:srgbClr val="167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8159" y="2148840"/>
            <a:ext cx="1592579" cy="914400"/>
          </a:xfrm>
          <a:prstGeom prst="rect">
            <a:avLst/>
          </a:prstGeom>
          <a:solidFill>
            <a:srgbClr val="104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7887" y="2286000"/>
            <a:ext cx="1373123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3. Category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8159" y="3264408"/>
            <a:ext cx="1592579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36777"/>
                </a:solidFill>
                <a:latin typeface="Calibri"/>
              </a:defRPr>
            </a:pPr>
            <a:r>
              <a:t>Span + sentence pooling; category head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61887" y="2514600"/>
            <a:ext cx="237744" cy="164592"/>
          </a:xfrm>
          <a:prstGeom prst="rightArrow">
            <a:avLst/>
          </a:prstGeom>
          <a:solidFill>
            <a:srgbClr val="167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0779" y="2148840"/>
            <a:ext cx="1592579" cy="914400"/>
          </a:xfrm>
          <a:prstGeom prst="rect">
            <a:avLst/>
          </a:prstGeom>
          <a:solidFill>
            <a:srgbClr val="167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507" y="2286000"/>
            <a:ext cx="1373123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4. Sentiment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0779" y="3264408"/>
            <a:ext cx="1592579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36777"/>
                </a:solidFill>
                <a:latin typeface="Calibri"/>
              </a:defRPr>
            </a:pPr>
            <a:r>
              <a:t>Shared PairClassifier; 3 polarities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874507" y="2514600"/>
            <a:ext cx="237744" cy="164592"/>
          </a:xfrm>
          <a:prstGeom prst="rightArrow">
            <a:avLst/>
          </a:prstGeom>
          <a:solidFill>
            <a:srgbClr val="167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53399" y="2148840"/>
            <a:ext cx="1592579" cy="914400"/>
          </a:xfrm>
          <a:prstGeom prst="rect">
            <a:avLst/>
          </a:prstGeom>
          <a:solidFill>
            <a:srgbClr val="104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63127" y="2286000"/>
            <a:ext cx="1373123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5. Implicit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3399" y="3264408"/>
            <a:ext cx="1592579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36777"/>
                </a:solidFill>
                <a:latin typeface="Calibri"/>
              </a:defRPr>
            </a:pPr>
            <a:r>
              <a:t>Anchored / sentence-level classifiers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787128" y="2514600"/>
            <a:ext cx="237744" cy="164592"/>
          </a:xfrm>
          <a:prstGeom prst="rightArrow">
            <a:avLst/>
          </a:prstGeom>
          <a:solidFill>
            <a:srgbClr val="167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066020" y="2148840"/>
            <a:ext cx="1592579" cy="914400"/>
          </a:xfrm>
          <a:prstGeom prst="rect">
            <a:avLst/>
          </a:prstGeom>
          <a:solidFill>
            <a:srgbClr val="167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75747" y="2286000"/>
            <a:ext cx="1373123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6. Assemble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66020" y="3264408"/>
            <a:ext cx="1592579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36777"/>
                </a:solidFill>
                <a:latin typeface="Calibri"/>
              </a:defRPr>
            </a:pPr>
            <a:r>
              <a:t>Full, explicit and implicit exact-match F1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349240"/>
            <a:ext cx="11155680" cy="749808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477255"/>
            <a:ext cx="1078992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04563"/>
                </a:solidFill>
                <a:latin typeface="Calibri"/>
              </a:defRPr>
            </a:pPr>
            <a:r>
              <a:t>Missing Stage 5 category/sentiment models leave a recall gap. This architecture is not inherently unable to emit NULL.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50040" y="6492240"/>
            <a:ext cx="3474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36777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BASELINE COMPARISON | STAGES 1, 3 AND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2B38"/>
                </a:solidFill>
                <a:latin typeface="Cambria"/>
              </a:defRPr>
            </a:pPr>
            <a:r>
              <a:t>Backbone Benchmarks Across Three Subtasks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4358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36777"/>
                </a:solidFill>
                <a:latin typeface="Calibri"/>
              </a:defRPr>
            </a:pPr>
            <a:r>
              <a:t>Recorded component results: Stage 3/4 use gold explicit pairs, not noisy end-to-end predictions.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results/stage1/ | results/stage3/ | results/stage4/ | GitHub #36 | GitHub #33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28800"/>
          <a:ext cx="111556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737360"/>
                <a:gridCol w="1737360"/>
                <a:gridCol w="1828800"/>
                <a:gridCol w="1737360"/>
                <a:gridCol w="1737360"/>
              </a:tblGrid>
              <a:tr h="7315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Backbone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Aspect F1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Opinion F1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macro-F1*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Sentiment</a:t>
                      </a:r>
                    </a:p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macro-F1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Sentiment</a:t>
                      </a:r>
                    </a:p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BERT-small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55.05%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39.58%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58.34%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65.27%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86.09%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AfroXLMR-base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59.93%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45.80%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60.80%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70.94%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88.57%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RoBERTa-Amharic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Not recorded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Not recorded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62.25%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71.03%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89.00%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983480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02B38"/>
                </a:solidFill>
                <a:latin typeface="Calibri"/>
              </a:defRPr>
            </a:pPr>
            <a:r>
              <a:t>*Present-label category macro-F1. RoBERTa: 62.25% present-label vs 36.79% all-label macro-F1.</a:t>
            </a:r>
          </a:p>
          <a:p>
            <a:pPr>
              <a:spcAft>
                <a:spcPts val="800"/>
              </a:spcAft>
              <a:defRPr sz="1800" b="0">
                <a:solidFill>
                  <a:srgbClr val="202B38"/>
                </a:solidFill>
                <a:latin typeface="Calibri"/>
              </a:defRPr>
            </a:pPr>
            <a:r>
              <a:t>Nine declared categories have no evaluation support. RoBERTa neutral-class F1 is only 33.78%.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50040" y="6492240"/>
            <a:ext cx="3474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36777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IMPLICIT MODELING | ISSUES #30, #38-44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2B38"/>
                </a:solidFill>
                <a:latin typeface="Cambria"/>
              </a:defRPr>
            </a:pPr>
            <a:r>
              <a:t>Detection Is Not Complete Quadruple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4358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36777"/>
                </a:solidFill>
                <a:latin typeface="Calibri"/>
              </a:defRPr>
            </a:pPr>
            <a:r>
              <a:t>Stage 5 reuses PairClassifier; absent-span masks become zero vectors while sentence context remains available.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docs/stage5_implicit_analysis.md | results/stage5/ | configs/stage6_pipeline.yaml | GitHub #34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28800"/>
          <a:ext cx="111556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6320"/>
                <a:gridCol w="1828800"/>
                <a:gridCol w="1828800"/>
                <a:gridCol w="2651760"/>
              </a:tblGrid>
              <a:tr h="585216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Subtask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Macro-F1*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Positive-class F1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Implicit aspect / opinion anchor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80.80%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75.37%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63.81%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Implicit opinion / aspect anchor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82.50%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68.28%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47.05%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Both implicit / sentence anchor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89.71%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64.79%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35.17%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Category / implicit aspect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57.42%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51.48%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Not a detector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029200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02B38"/>
                </a:solidFill>
                <a:latin typeface="Calibri"/>
              </a:defRPr>
            </a:pPr>
            <a:r>
              <a:t>Nine trainable sub-models; four recorded result sets. *Category row: present-label macro-F1.</a:t>
            </a:r>
          </a:p>
          <a:p>
            <a:pPr>
              <a:spcAft>
                <a:spcPts val="800"/>
              </a:spcAft>
              <a:defRPr sz="1800" b="0">
                <a:solidFill>
                  <a:srgbClr val="202B38"/>
                </a:solidFill>
                <a:latin typeface="Calibri"/>
              </a:defRPr>
            </a:pPr>
            <a:r>
              <a:t>Five completion-model result sets are absent; fully implicit training keeps only the first such quad per sentence.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50040" y="6492240"/>
            <a:ext cx="3474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36777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PHASE 1 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2B38"/>
                </a:solidFill>
                <a:latin typeface="Cambria"/>
              </a:defRPr>
            </a:pPr>
            <a:r>
              <a:t>Error Propagation: Measured, Not an F1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4358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36777"/>
                </a:solidFill>
                <a:latin typeface="Calibri"/>
              </a:defRPr>
            </a:pPr>
            <a:r>
              <a:t>Issue #51 reports approximately 14% full-pipeline F1; no standalone Stage 6 metric JSON is present.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GitHub #51 | docs/stage2_pairing_analysis.md | src/pipeline/run_inference.py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47088"/>
            <a:ext cx="5394960" cy="36576"/>
          </a:xfrm>
          <a:prstGeom prst="rect">
            <a:avLst/>
          </a:prstGeom>
          <a:solidFill>
            <a:srgbClr val="104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539496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04563"/>
                </a:solidFill>
                <a:latin typeface="Cambria"/>
              </a:defRPr>
            </a:pPr>
            <a:r>
              <a:t>What the evidence says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60904"/>
            <a:ext cx="539496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02B38"/>
                </a:solidFill>
                <a:latin typeface="Calibri"/>
              </a:defRPr>
            </a:pPr>
            <a:r>
              <a:t>Nearest-distance pairing reaches about 99.3% F1 when both input spans are gold.</a:t>
            </a:r>
          </a:p>
          <a:p>
            <a:pPr>
              <a:spcAft>
                <a:spcPts val="800"/>
              </a:spcAft>
              <a:defRPr sz="1900" b="0">
                <a:solidFill>
                  <a:srgbClr val="202B38"/>
                </a:solidFill>
                <a:latin typeface="Calibri"/>
              </a:defRPr>
            </a:pPr>
            <a:r>
              <a:t>Stage 1 misses and boundary shifts change the candidate pairs available downstream.</a:t>
            </a:r>
          </a:p>
          <a:p>
            <a:pPr>
              <a:spcAft>
                <a:spcPts val="800"/>
              </a:spcAft>
              <a:defRPr sz="1900" b="0">
                <a:solidFill>
                  <a:srgbClr val="202B38"/>
                </a:solidFill>
                <a:latin typeface="Calibri"/>
              </a:defRPr>
            </a:pPr>
            <a:r>
              <a:t>A later classifier cannot repair a missing explicit candidate in that branch.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847088"/>
            <a:ext cx="5394960" cy="36576"/>
          </a:xfrm>
          <a:prstGeom prst="rect">
            <a:avLst/>
          </a:prstGeom>
          <a:solidFill>
            <a:srgbClr val="B85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011680"/>
            <a:ext cx="539496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B85F24"/>
                </a:solidFill>
                <a:latin typeface="Cambria"/>
              </a:defRPr>
            </a:pPr>
            <a:r>
              <a:t>What to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660904"/>
            <a:ext cx="539496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02B38"/>
                </a:solidFill>
                <a:latin typeface="Calibri"/>
              </a:defRPr>
            </a:pPr>
            <a:r>
              <a:t>Full-system P/R/F1 from predictions passed through every stage.</a:t>
            </a:r>
          </a:p>
          <a:p>
            <a:pPr>
              <a:spcAft>
                <a:spcPts val="800"/>
              </a:spcAft>
              <a:defRPr sz="1900" b="0">
                <a:solidFill>
                  <a:srgbClr val="202B38"/>
                </a:solidFill>
                <a:latin typeface="Calibri"/>
              </a:defRPr>
            </a:pPr>
            <a:r>
              <a:t>Separate component diagnostics, plus explicit and implicit quad subsets.</a:t>
            </a:r>
          </a:p>
          <a:p>
            <a:pPr>
              <a:spcAft>
                <a:spcPts val="800"/>
              </a:spcAft>
              <a:defRPr sz="1900" b="0">
                <a:solidFill>
                  <a:srgbClr val="202B38"/>
                </a:solidFill>
                <a:latin typeface="Calibri"/>
              </a:defRPr>
            </a:pPr>
            <a:r>
              <a:t>Do not multiply independent F1 scores or compare gold-pair accuracy with full-quad F1.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50040" y="6492240"/>
            <a:ext cx="3474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36777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PHASE 2 | JOINT EXTRACTION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2B38"/>
                </a:solidFill>
                <a:latin typeface="Cambria"/>
              </a:defRPr>
            </a:pPr>
            <a:r>
              <a:t>SDRN: Entity and Relation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4358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36777"/>
                </a:solidFill>
                <a:latin typeface="Calibri"/>
              </a:defRPr>
            </a:pPr>
            <a:r>
              <a:t>The implementation evolved from dual-head approximation to unified 5-way CRF tagging and word-level pooling.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src/stage_aope_sdrn/model.py | src/stage_aope_sdrn/crf.py | GitHub #64 | GitHub #75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48840"/>
            <a:ext cx="2548889" cy="914400"/>
          </a:xfrm>
          <a:prstGeom prst="rect">
            <a:avLst/>
          </a:prstGeom>
          <a:solidFill>
            <a:srgbClr val="104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2286000"/>
            <a:ext cx="2329433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Context encoder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64408"/>
            <a:ext cx="2548889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36777"/>
                </a:solidFill>
                <a:latin typeface="Calibri"/>
              </a:defRPr>
            </a:pPr>
            <a:r>
              <a:t>AfroXLMR; optional subword-to-word mean pooling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92957" y="2514600"/>
            <a:ext cx="237744" cy="164592"/>
          </a:xfrm>
          <a:prstGeom prst="rightArrow">
            <a:avLst/>
          </a:prstGeom>
          <a:solidFill>
            <a:srgbClr val="167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71850" y="2148840"/>
            <a:ext cx="2548889" cy="914400"/>
          </a:xfrm>
          <a:prstGeom prst="rect">
            <a:avLst/>
          </a:prstGeom>
          <a:solidFill>
            <a:srgbClr val="167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1578" y="2286000"/>
            <a:ext cx="2329433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Entity channel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71850" y="3264408"/>
            <a:ext cx="2548889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36777"/>
                </a:solidFill>
                <a:latin typeface="Calibri"/>
              </a:defRPr>
            </a:pPr>
            <a:r>
              <a:t>O / B-ASP / I-ASP / B-OPN / I-OPN; constrained CRF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61888" y="2514600"/>
            <a:ext cx="237744" cy="164592"/>
          </a:xfrm>
          <a:prstGeom prst="rightArrow">
            <a:avLst/>
          </a:prstGeom>
          <a:solidFill>
            <a:srgbClr val="167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40779" y="2148840"/>
            <a:ext cx="2548889" cy="914400"/>
          </a:xfrm>
          <a:prstGeom prst="rect">
            <a:avLst/>
          </a:prstGeom>
          <a:solidFill>
            <a:srgbClr val="104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507" y="2286000"/>
            <a:ext cx="2329433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Relation channel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0779" y="3264408"/>
            <a:ext cx="2548889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36777"/>
                </a:solidFill>
                <a:latin typeface="Calibri"/>
              </a:defRPr>
            </a:pPr>
            <a:r>
              <a:t>Row-normalized attention; ESM and RSM recurrent feedback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830817" y="2514600"/>
            <a:ext cx="237744" cy="164592"/>
          </a:xfrm>
          <a:prstGeom prst="rightArrow">
            <a:avLst/>
          </a:prstGeom>
          <a:solidFill>
            <a:srgbClr val="167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09710" y="2148840"/>
            <a:ext cx="2548889" cy="914400"/>
          </a:xfrm>
          <a:prstGeom prst="rect">
            <a:avLst/>
          </a:prstGeom>
          <a:solidFill>
            <a:srgbClr val="167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19438" y="2286000"/>
            <a:ext cx="2329433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Joint pairs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9710" y="3264408"/>
            <a:ext cx="2548889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36777"/>
                </a:solidFill>
                <a:latin typeface="Calibri"/>
              </a:defRPr>
            </a:pPr>
            <a:r>
              <a:t>Bidirectional span correlation; acceptance threshold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349240"/>
            <a:ext cx="11155680" cy="749808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477255"/>
            <a:ext cx="1078992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04563"/>
                </a:solidFill>
                <a:latin typeface="Calibri"/>
              </a:defRPr>
            </a:pPr>
            <a:r>
              <a:t>The final word-level model tags whole words. Its remaining errors cannot be explained solely by subword fragmentation.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50040" y="6492240"/>
            <a:ext cx="3474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36777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ABLATION HISTORY | ISSUES #58, #69, #76-79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2B38"/>
                </a:solidFill>
                <a:latin typeface="Cambria"/>
              </a:defRPr>
            </a:pPr>
            <a:r>
              <a:t>What Helped, and What Did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4358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36777"/>
                </a:solidFill>
                <a:latin typeface="Calibri"/>
              </a:defRPr>
            </a:pPr>
            <a:r>
              <a:t>Recorded test metric artifacts; runs change more than one factor and are not controlled single-factor ablations.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results/stage_aope_sdrn/ | GitHub #70 | GitHub #78 | GitHub #80 | GitHub #76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28800"/>
          <a:ext cx="11155680" cy="3236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828800"/>
                <a:gridCol w="2103120"/>
                <a:gridCol w="1920240"/>
                <a:gridCol w="1920240"/>
              </a:tblGrid>
              <a:tr h="539496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Run / change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Aspect F1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Opinion recall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Pair ceiling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Pair F1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Explicit data + weights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58.42%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48.32%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35.88%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32.75%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Exact SDRN + CRF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60.41%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44.69%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33.04%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34.16%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Asymmetric weights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59.76%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46.90%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33.51%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33.93%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+ active Dice loss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59.78%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44.66%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33.01%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32.88%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Word-level SDRN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59.96%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44.76%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32.16%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34.07%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532120"/>
            <a:ext cx="11155680" cy="749808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60136"/>
            <a:ext cx="1078992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04563"/>
                </a:solidFill>
                <a:latin typeface="Calibri"/>
              </a:defRPr>
            </a:pPr>
            <a:r>
              <a:t>Dice loss did not improve pair F1 in the recorded run. Thresholds differ: CRF Run 1 uses 0.20; most others use 0.50.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50040" y="6492240"/>
            <a:ext cx="3474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36777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WORD-LEVEL SDRN | DIAGNOSTIC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2B38"/>
                </a:solidFill>
                <a:latin typeface="Cambria"/>
              </a:defRPr>
            </a:pPr>
            <a:r>
              <a:t>Seen vs. Unseen: Token Overlap &amp; Span Boundary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4358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36777"/>
                </a:solidFill>
                <a:latin typeface="Calibri"/>
              </a:defRPr>
            </a:pPr>
            <a:r>
              <a:t>Recall across 3 granularities: full phrase, &gt;=1 token overlap, and character trigrams for both aspect and opinion.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results/stage_aope_sdrn/afroxlmr_word_sdrn_run1/seen_unseen_diagnostic.json | GitHub #76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55648"/>
          <a:ext cx="111556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920240"/>
                <a:gridCol w="1920240"/>
                <a:gridCol w="2011680"/>
                <a:gridCol w="201168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Span Type &amp; Granularity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Seen in Train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Seen Recall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Unseen in Train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Unseen Recall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Opinion: Exact full phrase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1,014 (34.0%)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59.17% (600)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1,969 (66.0%)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37.63% (741)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Opinion: &gt;=1 token overlap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2,169 (72.7%)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45.78% (993)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814 (27.3%)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42.75% (348)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Opinion: Character trigram &gt;=50%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1,450 (48.6%)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54.41% (789)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1,533 (51.4%)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36.01% (552)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Opinion: Multi-word phrase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213 (15.2%)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62.44% (133)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1,184 (84.8%)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31.93% (378)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Aspect: Exact full phrase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1,910 (64.0%)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66.65% (1,273)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1,073 (36.0%)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43.80% (470)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Aspect: &gt;=1 token overlap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2,550 (85.5%)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59.73% (1,523)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433 (14.5%)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50.81% (220)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Aspect: Character trigram &gt;=50%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2,326 (78.0%)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63.67% (1,481)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657 (22.0%)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39.88% (262)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257800"/>
            <a:ext cx="11155680" cy="749808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385816"/>
            <a:ext cx="1078992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04563"/>
                </a:solidFill>
                <a:latin typeface="Calibri"/>
              </a:defRPr>
            </a:pPr>
            <a:r>
              <a:t>72.7% of opinions share &gt;=1 token with train, but exact boundary recall collapses on multi-word unseen opinions (31.93%). SDRN errors stem from token-level boundary fragmentation, not pure lexical absence.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50040" y="6492240"/>
            <a:ext cx="3474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36777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TRANSITION TO SPAN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2B38"/>
                </a:solidFill>
                <a:latin typeface="Cambria"/>
              </a:defRPr>
            </a:pPr>
            <a:r>
              <a:t>Candidate Coverage Is Not Final Pair Recall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4358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36777"/>
                </a:solidFill>
                <a:latin typeface="Calibri"/>
              </a:defRPr>
            </a:pPr>
            <a:r>
              <a:t>Denominators matter: reachable gold pairs / all gold pairs versus accepted gold pairs / reachable gold pairs.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results/stage_aope_sdrn/afroxlmr_crf_run1/best_metrics.json | results/stage_span_aste/afroxlmr_pooled_focal_run3/best_metrics.json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28800"/>
          <a:ext cx="111556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560320"/>
                <a:gridCol w="2286000"/>
                <a:gridCol w="3200400"/>
              </a:tblGrid>
              <a:tr h="73152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Reachable / gold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Candidate recall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Accepted / reachable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SDRN CRF Run 1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979 / 2,963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33.04%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966 / 979 = 98.67%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Span-ASTE Run 1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2,403 / 2,963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81.10%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706 / 2,403 = 29.38%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Span-ASTE Run 3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2,427 / 2,963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81.91%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1,093 / 2,427 = 45.04%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349240"/>
            <a:ext cx="11155680" cy="749808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477255"/>
            <a:ext cx="1078992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04563"/>
                </a:solidFill>
                <a:latin typeface="Calibri"/>
              </a:defRPr>
            </a:pPr>
            <a:r>
              <a:t>Span enumeration raises reachability; relation classification then becomes the larger bottleneck. These are run-specific observations.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50040" y="6492240"/>
            <a:ext cx="3474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36777"/>
                </a:solidFill>
                <a:latin typeface="Calibr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PHASES 3-5 | SPAN PARADIGM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2B38"/>
                </a:solidFill>
                <a:latin typeface="Cambria"/>
              </a:defRPr>
            </a:pPr>
            <a:r>
              <a:t>Span-ASTE: Enumerate, Prune, Then Classify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4358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36777"/>
                </a:solidFill>
                <a:latin typeface="Calibri"/>
              </a:defRPr>
            </a:pPr>
            <a:r>
              <a:t>Whole-span candidates replace BIO decisions; this implementation extracts explicit pairs and sentiment triplets.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src/stage_span_aste/model.py | src/stage_span_aste/span_utils.py | GitHub #82 | GitHub #88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48840"/>
            <a:ext cx="1975103" cy="914400"/>
          </a:xfrm>
          <a:prstGeom prst="rect">
            <a:avLst/>
          </a:prstGeom>
          <a:solidFill>
            <a:srgbClr val="104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2286000"/>
            <a:ext cx="1755647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Word encoding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64408"/>
            <a:ext cx="1975103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36777"/>
                </a:solidFill>
                <a:latin typeface="Calibri"/>
              </a:defRPr>
            </a:pPr>
            <a:r>
              <a:t>AfroXLMR subwords pooled to words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19172" y="2514600"/>
            <a:ext cx="237744" cy="164592"/>
          </a:xfrm>
          <a:prstGeom prst="rightArrow">
            <a:avLst/>
          </a:prstGeom>
          <a:solidFill>
            <a:srgbClr val="167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8063" y="2148840"/>
            <a:ext cx="1975103" cy="914400"/>
          </a:xfrm>
          <a:prstGeom prst="rect">
            <a:avLst/>
          </a:prstGeom>
          <a:solidFill>
            <a:srgbClr val="167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07791" y="2286000"/>
            <a:ext cx="1755647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Span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98063" y="3264408"/>
            <a:ext cx="1975103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36777"/>
                </a:solidFill>
                <a:latin typeface="Calibri"/>
              </a:defRPr>
            </a:pPr>
            <a:r>
              <a:t>All contiguous spans up to 8 words; learned width features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14315" y="2514600"/>
            <a:ext cx="237744" cy="164592"/>
          </a:xfrm>
          <a:prstGeom prst="rightArrow">
            <a:avLst/>
          </a:prstGeom>
          <a:solidFill>
            <a:srgbClr val="167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93207" y="2148840"/>
            <a:ext cx="1975103" cy="914400"/>
          </a:xfrm>
          <a:prstGeom prst="rect">
            <a:avLst/>
          </a:prstGeom>
          <a:solidFill>
            <a:srgbClr val="104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02936" y="2286000"/>
            <a:ext cx="1755647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Top-k pruning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3207" y="3264408"/>
            <a:ext cx="1975103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36777"/>
                </a:solidFill>
                <a:latin typeface="Calibri"/>
              </a:defRPr>
            </a:pPr>
            <a:r>
              <a:t>Separate aspect and opinion mention scores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109459" y="2514600"/>
            <a:ext cx="237744" cy="164592"/>
          </a:xfrm>
          <a:prstGeom prst="rightArrow">
            <a:avLst/>
          </a:prstGeom>
          <a:solidFill>
            <a:srgbClr val="167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88352" y="2148840"/>
            <a:ext cx="1975103" cy="914400"/>
          </a:xfrm>
          <a:prstGeom prst="rect">
            <a:avLst/>
          </a:prstGeom>
          <a:solidFill>
            <a:srgbClr val="167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79" y="2286000"/>
            <a:ext cx="1755647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Pair scoring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88352" y="3264408"/>
            <a:ext cx="1975103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36777"/>
                </a:solidFill>
                <a:latin typeface="Calibri"/>
              </a:defRPr>
            </a:pPr>
            <a:r>
              <a:t>MLP, then biaffine scoring + cross-span context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404604" y="2514600"/>
            <a:ext cx="237744" cy="164592"/>
          </a:xfrm>
          <a:prstGeom prst="rightArrow">
            <a:avLst/>
          </a:prstGeom>
          <a:solidFill>
            <a:srgbClr val="167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83496" y="2148840"/>
            <a:ext cx="1975103" cy="914400"/>
          </a:xfrm>
          <a:prstGeom prst="rect">
            <a:avLst/>
          </a:prstGeom>
          <a:solidFill>
            <a:srgbClr val="104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93224" y="2286000"/>
            <a:ext cx="1755647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3496" y="3264408"/>
            <a:ext cx="1975103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36777"/>
                </a:solidFill>
                <a:latin typeface="Calibri"/>
              </a:defRPr>
            </a:pPr>
            <a:r>
              <a:t>INVALID / POS / NEG / NEU; no category head or NULL candidate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349240"/>
            <a:ext cx="11155680" cy="749808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77255"/>
            <a:ext cx="1078992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04563"/>
                </a:solidFill>
                <a:latin typeface="Calibri"/>
              </a:defRPr>
            </a:pPr>
            <a:r>
              <a:t>Candidate spans are bounded by encoded words to avoid truncation-related indexing failures (PR #83).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50040" y="6492240"/>
            <a:ext cx="3474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36777"/>
                </a:solidFill>
                <a:latin typeface="Calibr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SPAN-ASTE RUN 1 | RECORDED TEST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2B38"/>
                </a:solidFill>
                <a:latin typeface="Cambria"/>
              </a:defRPr>
            </a:pPr>
            <a:r>
              <a:t>High Candidate Coverage, Low Conversion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4358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36777"/>
                </a:solidFill>
                <a:latin typeface="Calibri"/>
              </a:defRPr>
            </a:pPr>
            <a:r>
              <a:t>Run 1 reaches 2,403 of 2,963 gold pairs, but accepts only 706 correct pairs at its recorded operating point.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results/stage_span_aste/afroxlmr_run1/best_metrics.json | GitHub #84 | GitHub #86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28800"/>
          <a:ext cx="111556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1828800"/>
                <a:gridCol w="1828800"/>
                <a:gridCol w="2011680"/>
              </a:tblGrid>
              <a:tr h="585216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True positives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Aspect extraction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71.83%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39.04%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50.59%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1145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Opinion extraction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55.90%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30.52%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39.48%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900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AOPE pairs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43.55%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23.83%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30.80%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706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ASTE triplets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38.31%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20.95%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27.09%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621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349240"/>
            <a:ext cx="11155680" cy="749808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477255"/>
            <a:ext cx="1078992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04563"/>
                </a:solidFill>
                <a:latin typeface="Calibri"/>
              </a:defRPr>
            </a:pPr>
            <a:r>
              <a:t>Only 29.38% of reachable gold pairs become true positives. Threshold sweeps diagnose conservatism; tune on dev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50040" y="6492240"/>
            <a:ext cx="3474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36777"/>
                </a:solidFill>
                <a:latin typeface="Calibr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SPAN-ASTE RUN 2 | BIAFFINE INTERACTION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2B38"/>
                </a:solidFill>
                <a:latin typeface="Cambria"/>
              </a:defRPr>
            </a:pPr>
            <a:r>
              <a:t>A Better Relation Model, With Modest Gains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4358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36777"/>
                </a:solidFill>
                <a:latin typeface="Calibri"/>
              </a:defRPr>
            </a:pPr>
            <a:r>
              <a:t>Deep projections, bilinear compatibility and cross-span attention replace the concatenation-only MLP.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results/stage_span_aste/afroxlmr_biaffine_run2/best_metrics.json | src/stage_span_aste/model.py | GitHub #91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28800"/>
          <a:ext cx="111556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2194560"/>
                <a:gridCol w="2194560"/>
                <a:gridCol w="2194560"/>
              </a:tblGrid>
              <a:tr h="585216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Recorded metric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Run 1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Run 2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Change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Aspect F1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50.59%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53.76%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+3.17 pts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Opinion F1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39.48%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42.87%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+3.39 pts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AOPE pair F1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30.80%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32.82%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+2.02 pts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ASTE triplet F1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27.09%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29.37%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+2.29 pts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349240"/>
            <a:ext cx="11155680" cy="749808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477255"/>
            <a:ext cx="1078992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04563"/>
                </a:solidFill>
                <a:latin typeface="Calibri"/>
              </a:defRPr>
            </a:pPr>
            <a:r>
              <a:t>34.02% is Run 2's candidate conversion, not its AOPE F1. Contextual endpoints are not a direct pool of internal words.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50040" y="6492240"/>
            <a:ext cx="3474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36777"/>
                </a:solidFill>
                <a:latin typeface="Calibr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SPAN-ASTE RUN 3 | IMPLEMENTATION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2B38"/>
                </a:solidFill>
                <a:latin typeface="Cambria"/>
              </a:defRPr>
            </a:pPr>
            <a:r>
              <a:t>Full-Span Pooling and Cost-Sensitive Loss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4358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36777"/>
                </a:solidFill>
                <a:latin typeface="Calibri"/>
              </a:defRPr>
            </a:pPr>
            <a:r>
              <a:t>The result artifact records weighted cross-entropy. Focal loss exists in code but was OFF for this run.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src/stage_span_aste/model.py | results/stage_span_aste/afroxlmr_pooled_focal_run3/resolved_args.json | GitHub #93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47088"/>
            <a:ext cx="5394960" cy="36576"/>
          </a:xfrm>
          <a:prstGeom prst="rect">
            <a:avLst/>
          </a:prstGeom>
          <a:solidFill>
            <a:srgbClr val="104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539496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04563"/>
                </a:solidFill>
                <a:latin typeface="Cambria"/>
              </a:defRPr>
            </a:pPr>
            <a:r>
              <a:t>Constant-time span queries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60904"/>
            <a:ext cx="539496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02B38"/>
                </a:solidFill>
                <a:latin typeface="Calibri"/>
              </a:defRPr>
            </a:pPr>
            <a:r>
              <a:t>Use half-open spans [s, e), matching the annotation convention.</a:t>
            </a:r>
          </a:p>
          <a:p>
            <a:pPr>
              <a:spcAft>
                <a:spcPts val="800"/>
              </a:spcAft>
              <a:defRPr sz="1800" b="0">
                <a:solidFill>
                  <a:srgbClr val="202B38"/>
                </a:solidFill>
                <a:latin typeface="Calibri"/>
              </a:defRPr>
            </a:pPr>
            <a:r>
              <a:t>P[0] = 0; P[t] = sum of x[0:t].</a:t>
            </a:r>
          </a:p>
          <a:p>
            <a:pPr>
              <a:spcAft>
                <a:spcPts val="800"/>
              </a:spcAft>
              <a:defRPr sz="1800" b="0">
                <a:solidFill>
                  <a:srgbClr val="202B38"/>
                </a:solidFill>
                <a:latin typeface="Calibri"/>
              </a:defRPr>
            </a:pPr>
            <a:r>
              <a:t>mean(s,e) = (P[e] - P[s]) / (e - s).</a:t>
            </a:r>
          </a:p>
          <a:p>
            <a:pPr>
              <a:spcAft>
                <a:spcPts val="800"/>
              </a:spcAft>
              <a:defRPr sz="1800" b="0">
                <a:solidFill>
                  <a:srgbClr val="202B38"/>
                </a:solidFill>
                <a:latin typeface="Calibri"/>
              </a:defRPr>
            </a:pPr>
            <a:r>
              <a:t>h_span = [x_s; x_(e-1); mean; width].</a:t>
            </a:r>
          </a:p>
          <a:p>
            <a:pPr>
              <a:spcAft>
                <a:spcPts val="800"/>
              </a:spcAft>
              <a:defRPr sz="1800" b="0">
                <a:solidFill>
                  <a:srgbClr val="202B38"/>
                </a:solidFill>
                <a:latin typeface="Calibri"/>
              </a:defRPr>
            </a:pPr>
            <a:r>
              <a:t>Dimension: 3 x 768 + 20 = 2,324.</a:t>
            </a:r>
          </a:p>
          <a:p>
            <a:pPr>
              <a:spcAft>
                <a:spcPts val="800"/>
              </a:spcAft>
              <a:defRPr sz="1800" b="0">
                <a:solidFill>
                  <a:srgbClr val="202B38"/>
                </a:solidFill>
                <a:latin typeface="Calibri"/>
              </a:defRPr>
            </a:pPr>
            <a:r>
              <a:t>O(n) prefix preprocessing; O(1) per span for fixed hidden width.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847088"/>
            <a:ext cx="5394960" cy="36576"/>
          </a:xfrm>
          <a:prstGeom prst="rect">
            <a:avLst/>
          </a:prstGeom>
          <a:solidFill>
            <a:srgbClr val="B85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011680"/>
            <a:ext cx="539496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B85F24"/>
                </a:solidFill>
                <a:latin typeface="Cambria"/>
              </a:defRPr>
            </a:pPr>
            <a:r>
              <a:t>Recorded loss configuration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660904"/>
            <a:ext cx="539496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02B38"/>
                </a:solidFill>
                <a:latin typeface="Calibri"/>
              </a:defRPr>
            </a:pPr>
            <a:r>
              <a:t>Weights [INVALID, POS, NEG, NEU] = [0.1, 1.0, 1.0, 2.0].</a:t>
            </a:r>
          </a:p>
          <a:p>
            <a:pPr>
              <a:spcAft>
                <a:spcPts val="800"/>
              </a:spcAft>
              <a:defRPr sz="1800" b="0">
                <a:solidFill>
                  <a:srgbClr val="202B38"/>
                </a:solidFill>
                <a:latin typeface="Calibri"/>
              </a:defRPr>
            </a:pPr>
            <a:r>
              <a:t>use_span_mean_pooling = true</a:t>
            </a:r>
          </a:p>
          <a:p>
            <a:pPr>
              <a:spcAft>
                <a:spcPts val="800"/>
              </a:spcAft>
              <a:defRPr sz="1800" b="0">
                <a:solidFill>
                  <a:srgbClr val="202B38"/>
                </a:solidFill>
                <a:latin typeface="Calibri"/>
              </a:defRPr>
            </a:pPr>
            <a:r>
              <a:t>use_focal_loss = false</a:t>
            </a:r>
          </a:p>
          <a:p>
            <a:pPr>
              <a:spcAft>
                <a:spcPts val="800"/>
              </a:spcAft>
              <a:defRPr sz="1800" b="0">
                <a:solidFill>
                  <a:srgbClr val="202B38"/>
                </a:solidFill>
                <a:latin typeface="Calibri"/>
              </a:defRPr>
            </a:pPr>
            <a:r>
              <a:t>Optional focal form in code:</a:t>
            </a:r>
          </a:p>
          <a:p>
            <a:pPr>
              <a:spcAft>
                <a:spcPts val="800"/>
              </a:spcAft>
              <a:defRPr sz="1800" b="0">
                <a:solidFill>
                  <a:srgbClr val="202B38"/>
                </a:solidFill>
                <a:latin typeface="Calibri"/>
              </a:defRPr>
            </a:pPr>
            <a:r>
              <a:t>-alpha * (1 - p)^gamma * log(p).</a:t>
            </a:r>
          </a:p>
          <a:p>
            <a:pPr>
              <a:spcAft>
                <a:spcPts val="800"/>
              </a:spcAft>
              <a:defRPr sz="1800" b="0">
                <a:solidFill>
                  <a:srgbClr val="202B38"/>
                </a:solidFill>
                <a:latin typeface="Calibri"/>
              </a:defRPr>
            </a:pPr>
            <a:r>
              <a:t>Pooling and loss weights changed together; no isolated causal ablation.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50040" y="6492240"/>
            <a:ext cx="3474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36777"/>
                </a:solidFill>
                <a:latin typeface="Calibr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SPAN-ASTE RUN 3 | RECALL TRADE-OFF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2B38"/>
                </a:solidFill>
                <a:latin typeface="Cambria"/>
              </a:defRPr>
            </a:pPr>
            <a:r>
              <a:t>More Opinions Found, Not a Universal F1 Gain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4358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36777"/>
                </a:solidFill>
                <a:latin typeface="Calibri"/>
              </a:defRPr>
            </a:pPr>
            <a:r>
              <a:t>Default metric artifacts are shown together; separate sweep outputs are reported on the next slide.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results/stage_span_aste/afroxlmr_run1/best_metrics.json | results/stage_span_aste/afroxlmr_pooled_focal_run3/best_metrics.json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28800"/>
          <a:ext cx="11155680" cy="3236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2194560"/>
                <a:gridCol w="2194560"/>
                <a:gridCol w="2194560"/>
              </a:tblGrid>
              <a:tr h="539496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Run 1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Run 2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Run 3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Aspect F1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50.59%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53.76%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55.20%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Opinion F1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39.48%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42.87%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42.89%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Opinion recall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30.52%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35.57%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46.73%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AOPE pair F1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30.80%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32.82%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31.24%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AOPE pair recall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23.83%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27.37%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36.89%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532120"/>
            <a:ext cx="11155680" cy="749808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60136"/>
            <a:ext cx="1078992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04563"/>
                </a:solidFill>
                <a:latin typeface="Calibri"/>
              </a:defRPr>
            </a:pPr>
            <a:r>
              <a:t>55.20% aspect F1 is best among these Span-ASTE runs, not across the repository: SDRN CRF Run 1 records 60.41%.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50040" y="6492240"/>
            <a:ext cx="3474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36777"/>
                </a:solidFill>
                <a:latin typeface="Calibr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CALIBRATION AND EXPERIMENT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2B38"/>
                </a:solidFill>
                <a:latin typeface="Cambria"/>
              </a:defRPr>
            </a:pPr>
            <a:r>
              <a:t>Dev-Tuned Results Are Not Test-Selected Peaks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4358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36777"/>
                </a:solidFill>
                <a:latin typeface="Calibri"/>
              </a:defRPr>
            </a:pPr>
            <a:r>
              <a:t>Record the metric file, data version, threshold-selection split and decoding rule for every reported score.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results/stage_span_aste/afroxlmr_biaffine_run2/dev_threshold_sweep.json | results/stage_span_aste/afroxlmr_pooled_focal_run3/threshold_sweep.json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28800"/>
          <a:ext cx="111556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920240"/>
                <a:gridCol w="2286000"/>
                <a:gridCol w="2011680"/>
                <a:gridCol w="2194560"/>
              </a:tblGrid>
              <a:tr h="82296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Run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Dev-selected</a:t>
                      </a:r>
                    </a:p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threshold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F1 at</a:t>
                      </a:r>
                    </a:p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dev threshold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Test-selected</a:t>
                      </a:r>
                    </a:p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threshold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Peak test F1</a:t>
                      </a:r>
                    </a:p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(diagnostic)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Biaffine Run 2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0.50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32.90%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0.35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33.31%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Pooled Run 3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0.65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31.97%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0.60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32.04%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709160"/>
            <a:ext cx="111556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02B38"/>
                </a:solidFill>
                <a:latin typeface="Calibri"/>
              </a:defRPr>
            </a:pPr>
            <a:r>
              <a:t>Run 3 default metrics: 1,093 pair TPs / 31.24% F1. Its separate 0.50 sweep records different values.</a:t>
            </a:r>
          </a:p>
          <a:p>
            <a:pPr>
              <a:spcAft>
                <a:spcPts val="800"/>
              </a:spcAft>
              <a:defRPr sz="1900" b="0">
                <a:solidFill>
                  <a:srgbClr val="202B38"/>
                </a:solidFill>
                <a:latin typeface="Calibri"/>
              </a:defRPr>
            </a:pPr>
            <a:r>
              <a:t>The often-quoted 45.78% is sweep conversion efficiency, not pair recall.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50040" y="6492240"/>
            <a:ext cx="3474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36777"/>
                </a:solidFill>
                <a:latin typeface="Calibri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PHASE 6 | GENERATIVE FORMULATION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2B38"/>
                </a:solidFill>
                <a:latin typeface="Cambria"/>
              </a:defRPr>
            </a:pPr>
            <a:r>
              <a:t>ByT5: One Model for Explicit and Implicit Quads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4358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36777"/>
                </a:solidFill>
                <a:latin typeface="Calibri"/>
              </a:defRPr>
            </a:pPr>
            <a:r>
              <a:t>Byte-level encoder-decoder prediction removes the requirement that every tuple field be an input span.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src/stage_byt5_acos/model.py | src/stage_byt5_acos/dataset.py | src/stage_byt5_acos/linearization.py | GitHub #95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48840"/>
            <a:ext cx="2548889" cy="914400"/>
          </a:xfrm>
          <a:prstGeom prst="rect">
            <a:avLst/>
          </a:prstGeom>
          <a:solidFill>
            <a:srgbClr val="104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2286000"/>
            <a:ext cx="2329433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Amharic sentence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64408"/>
            <a:ext cx="2548889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36777"/>
                </a:solidFill>
                <a:latin typeface="Calibri"/>
              </a:defRPr>
            </a:pPr>
            <a:r>
              <a:t>Civic / governance text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92957" y="2514600"/>
            <a:ext cx="237744" cy="164592"/>
          </a:xfrm>
          <a:prstGeom prst="rightArrow">
            <a:avLst/>
          </a:prstGeom>
          <a:solidFill>
            <a:srgbClr val="167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71850" y="2148840"/>
            <a:ext cx="2548889" cy="914400"/>
          </a:xfrm>
          <a:prstGeom prst="rect">
            <a:avLst/>
          </a:prstGeom>
          <a:solidFill>
            <a:srgbClr val="167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1578" y="2286000"/>
            <a:ext cx="2329433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UTF-8 bytes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71850" y="3264408"/>
            <a:ext cx="2548889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36777"/>
                </a:solidFill>
                <a:latin typeface="Calibri"/>
              </a:defRPr>
            </a:pPr>
            <a:r>
              <a:t>256 byte values plus special tokens; no learned subword vocabulary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61888" y="2514600"/>
            <a:ext cx="237744" cy="164592"/>
          </a:xfrm>
          <a:prstGeom prst="rightArrow">
            <a:avLst/>
          </a:prstGeom>
          <a:solidFill>
            <a:srgbClr val="167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40779" y="2148840"/>
            <a:ext cx="2548889" cy="914400"/>
          </a:xfrm>
          <a:prstGeom prst="rect">
            <a:avLst/>
          </a:prstGeom>
          <a:solidFill>
            <a:srgbClr val="104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507" y="2286000"/>
            <a:ext cx="2329433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ByT5 encoder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0779" y="3264408"/>
            <a:ext cx="2548889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36777"/>
                </a:solidFill>
                <a:latin typeface="Calibri"/>
              </a:defRPr>
            </a:pPr>
            <a:r>
              <a:t>google/byt5-base; contextual representation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830817" y="2514600"/>
            <a:ext cx="237744" cy="164592"/>
          </a:xfrm>
          <a:prstGeom prst="rightArrow">
            <a:avLst/>
          </a:prstGeom>
          <a:solidFill>
            <a:srgbClr val="167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09710" y="2148840"/>
            <a:ext cx="2548889" cy="914400"/>
          </a:xfrm>
          <a:prstGeom prst="rect">
            <a:avLst/>
          </a:prstGeom>
          <a:solidFill>
            <a:srgbClr val="167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19438" y="2286000"/>
            <a:ext cx="2329433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Autoregressive decoder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9710" y="3264408"/>
            <a:ext cx="2548889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36777"/>
                </a:solidFill>
                <a:latin typeface="Calibri"/>
              </a:defRPr>
            </a:pPr>
            <a:r>
              <a:t>[ aspect | category | sentiment | opinion ]; can emit NULL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349240"/>
            <a:ext cx="11155680" cy="749808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477255"/>
            <a:ext cx="1078992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04563"/>
                </a:solidFill>
                <a:latin typeface="Calibri"/>
              </a:defRPr>
            </a:pPr>
            <a:r>
              <a:t>Explicit-only extractors cannot recover NULL quads as implemented. Generation is one solution; the Stage 5 classifier path is another.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50040" y="6492240"/>
            <a:ext cx="3474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36777"/>
                </a:solidFill>
                <a:latin typeface="Calibri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BYT5 RUN 1 | ENGINEERING AND REPRODUCIBILITY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2B38"/>
                </a:solidFill>
                <a:latin typeface="Cambria"/>
              </a:defRPr>
            </a:pPr>
            <a:r>
              <a:t>The Recorded Training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4358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36777"/>
                </a:solidFill>
                <a:latin typeface="Calibri"/>
              </a:defRPr>
            </a:pPr>
            <a:r>
              <a:t>Resolved run arguments take precedence over current config defaults and earlier slide descriptions.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results/stage_byt5_acos/byt5_base_run1/resolved_args.json | src/stage_byt5_acos/train.py | GitHub #98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28800"/>
          <a:ext cx="11155680" cy="3236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  <a:gridCol w="4754880"/>
              </a:tblGrid>
              <a:tr h="539496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Setting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Recorded value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Why it matters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Precision / optimizer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BF16 / Adafactor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Wider exponent range; factorized optimizer state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Batch / accumulation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 x 4 = 16 effective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Accumulation controls the effective update size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Source / target limit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768 / 256 byte-token positions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Finite input/output lengths still truncate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Epochs / learning rate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10 / 1e-4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Best checkpoint selected on dev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Dev selection / batch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First 1,000 sentences / 16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Not the full 4,907-sentence dev split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532120"/>
            <a:ext cx="11155680" cy="749808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60136"/>
            <a:ext cx="1078992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04563"/>
                </a:solidFill>
                <a:latin typeface="Calibri"/>
              </a:defRPr>
            </a:pPr>
            <a:r>
              <a:t>Reported engineering observations: greedy subset validation was faster than beam search; BF16 avoided the reported FP16 failure.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50040" y="6492240"/>
            <a:ext cx="3474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36777"/>
                </a:solidFill>
                <a:latin typeface="Calibri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BYT5 RUN 1 | DEV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2B38"/>
                </a:solidFill>
                <a:latin typeface="Cambria"/>
              </a:defRPr>
            </a:pPr>
            <a:r>
              <a:t>ByT5 Dev: Strict Quadruple and Subtask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4358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36777"/>
                </a:solidFill>
                <a:latin typeface="Calibri"/>
              </a:defRPr>
            </a:pPr>
            <a:r>
              <a:t>Best checkpoint (epoch 9 per Issue #98); first 1,000 dev sentences, 1,033 gold quads.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results/stage_byt5_acos/byt5_base_run1/best_dev_metrics.json | GitHub #98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28800"/>
          <a:ext cx="11155680" cy="3438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920240"/>
                <a:gridCol w="1920240"/>
                <a:gridCol w="1920240"/>
                <a:gridCol w="1554480"/>
              </a:tblGrid>
              <a:tr h="429768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TP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Full quadruple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18.20%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17.62%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17.90%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182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Explicit quadruple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15.95%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18.51%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17.14%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112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Implicit quadruple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23.49%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16.36%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19.28%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70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AOPE pair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30.00%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29.04%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29.51%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300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ASTE triplet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27.40%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26.52%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26.96%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274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ACSE (A,C,S)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30.30%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29.33%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29.81%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303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Category + sentiment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49.50%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47.92%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48.70%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495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532120"/>
            <a:ext cx="11155680" cy="749808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60136"/>
            <a:ext cx="1078992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04563"/>
                </a:solidFill>
                <a:latin typeface="Calibri"/>
              </a:defRPr>
            </a:pPr>
            <a:r>
              <a:t>70 implicit true positives are recorded. This is a subset-selection result, not a score on the full dev split.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50040" y="6492240"/>
            <a:ext cx="3474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36777"/>
                </a:solidFill>
                <a:latin typeface="Calibri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BYT5 RUN 1 | TEST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2B38"/>
                </a:solidFill>
                <a:latin typeface="Cambria"/>
              </a:defRPr>
            </a:pPr>
            <a:r>
              <a:t>ByT5 Test: Strict Quadruple and Subtask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4358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36777"/>
                </a:solidFill>
                <a:latin typeface="Calibri"/>
              </a:defRPr>
            </a:pPr>
            <a:r>
              <a:t>Original test split: 4,909 sentences / 5,138 gold quads. Not a cleaned-data evaluation.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results/stage_byt5_acos/byt5_base_run1/test_metrics.json | GitHub #98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28800"/>
          <a:ext cx="11155680" cy="3438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920240"/>
                <a:gridCol w="1920240"/>
                <a:gridCol w="1920240"/>
                <a:gridCol w="1554480"/>
              </a:tblGrid>
              <a:tr h="429768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TP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Full quadruple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16.52%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15.78%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16.14%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811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Explicit quadruple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15.90%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18.00%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16.88%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537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Implicit quadruple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17.90%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12.71%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14.87%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274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AOPE pair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27.32%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26.10%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26.69%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1,341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ASTE triplet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24.24%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23.16%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23.69%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1,190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ACSE (A,C,S)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30.64%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29.27%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29.94%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1,504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Category + sentiment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49.40%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47.20%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48.27%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2,425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532120"/>
            <a:ext cx="11155680" cy="749808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60136"/>
            <a:ext cx="1078992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04563"/>
                </a:solidFill>
                <a:latin typeface="Calibri"/>
              </a:defRPr>
            </a:pPr>
            <a:r>
              <a:t>811 full-quad true positives, including 274 implicit. Raw counts and split sizes are essential context for these F1 scores.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50040" y="6492240"/>
            <a:ext cx="3474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36777"/>
                </a:solidFill>
                <a:latin typeface="Calibri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IMPLEMENTED AFTER RUN 1 | PR #100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2B38"/>
                </a:solidFill>
                <a:latin typeface="Cambria"/>
              </a:defRPr>
            </a:pPr>
            <a:r>
              <a:t>Constrained Decoding and Linguistic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4358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36777"/>
                </a:solidFill>
                <a:latin typeface="Calibri"/>
              </a:defRPr>
            </a:pPr>
            <a:r>
              <a:t>These features are in the codebase; no completed constrained or clitic-normalized ByT5 run is recorded.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src/stage_byt5_acos/constrained_decoder.py | src/stage_byt5_acos/evaluate.py | tests/test_constrained_decoder.py | GitHub #100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47088"/>
            <a:ext cx="5394960" cy="36576"/>
          </a:xfrm>
          <a:prstGeom prst="rect">
            <a:avLst/>
          </a:prstGeom>
          <a:solidFill>
            <a:srgbClr val="104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539496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04563"/>
                </a:solidFill>
                <a:latin typeface="Cambria"/>
              </a:defRPr>
            </a:pPr>
            <a:r>
              <a:t>Implemented mechanism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60904"/>
            <a:ext cx="539496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02B38"/>
                </a:solidFill>
                <a:latin typeface="Calibri"/>
              </a:defRPr>
            </a:pPr>
            <a:r>
              <a:t>ByteTrie restricts category and sentiment prefixes during generation.</a:t>
            </a:r>
          </a:p>
          <a:p>
            <a:pPr>
              <a:spcAft>
                <a:spcPts val="800"/>
              </a:spcAft>
              <a:defRPr sz="1800" b="0">
                <a:solidFill>
                  <a:srgbClr val="202B38"/>
                </a:solidFill>
                <a:latin typeface="Calibri"/>
              </a:defRPr>
            </a:pPr>
            <a:r>
              <a:t>Evaluator exposes constrained decoding, beam width and generation penalties.</a:t>
            </a:r>
          </a:p>
          <a:p>
            <a:pPr>
              <a:spcAft>
                <a:spcPts val="800"/>
              </a:spcAft>
              <a:defRPr sz="1800" b="0">
                <a:solidFill>
                  <a:srgbClr val="202B38"/>
                </a:solidFill>
                <a:latin typeface="Calibri"/>
              </a:defRPr>
            </a:pPr>
            <a:r>
              <a:t>Clitic-normalized matching strips selected affixes from aspect/opinion text; category and sentiment stay exact.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847088"/>
            <a:ext cx="5394960" cy="36576"/>
          </a:xfrm>
          <a:prstGeom prst="rect">
            <a:avLst/>
          </a:prstGeom>
          <a:solidFill>
            <a:srgbClr val="B85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011680"/>
            <a:ext cx="539496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B85F24"/>
                </a:solidFill>
                <a:latin typeface="Cambria"/>
              </a:defRPr>
            </a:pPr>
            <a:r>
              <a:t>Validated 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660904"/>
            <a:ext cx="539496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02B38"/>
                </a:solidFill>
                <a:latin typeface="Calibri"/>
              </a:defRPr>
            </a:pPr>
            <a:r>
              <a:t>Category/sentiment delimiter transitions can become stuck emitting spaces.</a:t>
            </a:r>
          </a:p>
          <a:p>
            <a:pPr>
              <a:spcAft>
                <a:spcPts val="800"/>
              </a:spcAft>
              <a:defRPr sz="1800" b="0">
                <a:solidFill>
                  <a:srgbClr val="202B38"/>
                </a:solidFill>
                <a:latin typeface="Calibri"/>
              </a:defRPr>
            </a:pPr>
            <a:r>
              <a:t>Free-text slots still permit structural bytes; complete grammar validity is not guaranteed.</a:t>
            </a:r>
          </a:p>
          <a:p>
            <a:pPr>
              <a:spcAft>
                <a:spcPts val="800"/>
              </a:spcAft>
              <a:defRPr sz="1800" b="0">
                <a:solidFill>
                  <a:srgbClr val="202B38"/>
                </a:solidFill>
                <a:latin typeface="Calibri"/>
              </a:defRPr>
            </a:pPr>
            <a:r>
              <a:t>Repair and test full byte-by-byte paths before claiming zero formatting/category errors.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50040" y="6492240"/>
            <a:ext cx="3474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36777"/>
                </a:solidFill>
                <a:latin typeface="Calibri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IMPLEMENTED AFTER RUN 1 | PR #101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2B38"/>
                </a:solidFill>
                <a:latin typeface="Cambria"/>
              </a:defRPr>
            </a:pPr>
            <a:r>
              <a:t>ByT5 Run 2: Implemented, Not Yet Measured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4358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36777"/>
                </a:solidFill>
                <a:latin typeface="Calibri"/>
              </a:defRPr>
            </a:pPr>
            <a:r>
              <a:t>Canonical ordering and regularized token loss are present; curriculum training and scaling remain proposals.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src/stage_byt5_acos/linearization.py | src/stage_byt5_acos/train.py | configs/stage_byt5_acos_run2.yaml | GitHub #101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47088"/>
            <a:ext cx="5394960" cy="36576"/>
          </a:xfrm>
          <a:prstGeom prst="rect">
            <a:avLst/>
          </a:prstGeom>
          <a:solidFill>
            <a:srgbClr val="104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539496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04563"/>
                </a:solidFill>
                <a:latin typeface="Cambria"/>
              </a:defRPr>
            </a:pPr>
            <a:r>
              <a:t>Training changes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60904"/>
            <a:ext cx="539496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02B38"/>
                </a:solidFill>
                <a:latin typeface="Calibri"/>
              </a:defRPr>
            </a:pPr>
            <a:r>
              <a:t>Explicit aspects sorted by a_start; implicit aspects with explicit opinions by o_start.</a:t>
            </a:r>
          </a:p>
          <a:p>
            <a:pPr>
              <a:spcAft>
                <a:spcPts val="800"/>
              </a:spcAft>
              <a:defRPr sz="1800" b="0">
                <a:solidFill>
                  <a:srgbClr val="202B38"/>
                </a:solidFill>
                <a:latin typeface="Calibri"/>
              </a:defRPr>
            </a:pPr>
            <a:r>
              <a:t>Fully implicit quads placed last, ordered by category and sentiment.</a:t>
            </a:r>
          </a:p>
          <a:p>
            <a:pPr>
              <a:spcAft>
                <a:spcPts val="800"/>
              </a:spcAft>
              <a:defRPr sz="1800" b="0">
                <a:solidFill>
                  <a:srgbClr val="202B38"/>
                </a:solidFill>
                <a:latin typeface="Calibri"/>
              </a:defRPr>
            </a:pPr>
            <a:r>
              <a:t>Label-smoothed cross-entropy: epsilon = 0.1. Planned training horizon: 15 epochs.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847088"/>
            <a:ext cx="5394960" cy="36576"/>
          </a:xfrm>
          <a:prstGeom prst="rect">
            <a:avLst/>
          </a:prstGeom>
          <a:solidFill>
            <a:srgbClr val="B85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011680"/>
            <a:ext cx="539496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B85F24"/>
                </a:solidFill>
                <a:latin typeface="Cambria"/>
              </a:defRPr>
            </a:pPr>
            <a:r>
              <a:t>Experiment 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660904"/>
            <a:ext cx="539496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02B38"/>
                </a:solidFill>
                <a:latin typeface="Calibri"/>
              </a:defRPr>
            </a:pPr>
            <a:r>
              <a:t>Run 2 standalone evaluation config requests 4 beams and constraints.</a:t>
            </a:r>
          </a:p>
          <a:p>
            <a:pPr>
              <a:spcAft>
                <a:spcPts val="800"/>
              </a:spcAft>
              <a:defRPr sz="1800" b="0">
                <a:solidFill>
                  <a:srgbClr val="202B38"/>
                </a:solidFill>
                <a:latin typeface="Calibri"/>
              </a:defRPr>
            </a:pPr>
            <a:r>
              <a:t>Training's internal evaluation does not pass the constrained option; do not assume identical decoding.</a:t>
            </a:r>
          </a:p>
          <a:p>
            <a:pPr>
              <a:spcAft>
                <a:spcPts val="800"/>
              </a:spcAft>
              <a:defRPr sz="1800" b="0">
                <a:solidFill>
                  <a:srgbClr val="202B38"/>
                </a:solidFill>
                <a:latin typeface="Calibri"/>
              </a:defRPr>
            </a:pPr>
            <a:r>
              <a:t>Config still points to prepared/, not prepared_clean/. No Run 2 result directory is present.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50040" y="6492240"/>
            <a:ext cx="3474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36777"/>
                </a:solidFill>
                <a:latin typeface="Calibri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CROSS-ARCHITECTURE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2B38"/>
                </a:solidFill>
                <a:latin typeface="Cambria"/>
              </a:defRPr>
            </a:pPr>
            <a:r>
              <a:t>Two Evaluation Populations, Not One Leaderboard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4358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36777"/>
                </a:solidFill>
                <a:latin typeface="Calibri"/>
              </a:defRPr>
            </a:pPr>
            <a:r>
              <a:t>Percent F1. The extraction rows use the explicit benchmark; ByT5 uses all original test quadruples.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results/stage_aope_sdrn/afroxlmr_crf_run1/best_metrics.json | results/stage_span_aste/ | results/stage_byt5_acos/byt5_base_run1/test_metrics.json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28800"/>
          <a:ext cx="111556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103120"/>
                <a:gridCol w="1554480"/>
                <a:gridCol w="1737360"/>
                <a:gridCol w="2560320"/>
              </a:tblGrid>
              <a:tr h="54864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 / recorded run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Population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AOPE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ASTE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Full ACOS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SDRN CRF Run 1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Explicit pairs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34.16%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Not measured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Not measured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Span-ASTE Run 1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Explicit pairs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30.80%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27.09%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No category head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Span-ASTE Run 2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Explicit pairs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32.82%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29.37%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No category head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Span-ASTE Run 3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Explicit pairs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31.24%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28.49%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No category head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ByT5 Run 1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All quads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26.69%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23.69%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16.14%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532120"/>
            <a:ext cx="11155680" cy="749808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60136"/>
            <a:ext cx="1078992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04563"/>
                </a:solidFill>
                <a:latin typeface="Calibri"/>
              </a:defRPr>
            </a:pPr>
            <a:r>
              <a:t>ByT5 records 14.87% implicit-quad F1. A fair ranking requires matching data, tuple fields, implicit coverage and selection protocol.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50040" y="6492240"/>
            <a:ext cx="3474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36777"/>
                </a:solidFill>
                <a:latin typeface="Calibri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EVALUATION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2B38"/>
                </a:solidFill>
                <a:latin typeface="Cambria"/>
              </a:defRPr>
            </a:pPr>
            <a:r>
              <a:t>Exact Match, Subsets and Morphology Must Stay Separate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4358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36777"/>
                </a:solidFill>
                <a:latin typeface="Calibri"/>
              </a:defRPr>
            </a:pPr>
            <a:r>
              <a:t>A credible comparison freezes the data version, checkpoint selection, parser and decoding settings.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src/pipeline/evaluate.py | src/stage_byt5_acos/evaluate.py | src/stage_byt5_acos/linearization.py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47088"/>
            <a:ext cx="5394960" cy="36576"/>
          </a:xfrm>
          <a:prstGeom prst="rect">
            <a:avLst/>
          </a:prstGeom>
          <a:solidFill>
            <a:srgbClr val="104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539496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04563"/>
                </a:solidFill>
                <a:latin typeface="Cambria"/>
              </a:defRPr>
            </a:pPr>
            <a:r>
              <a:t>What each score means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60904"/>
            <a:ext cx="539496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02B38"/>
                </a:solidFill>
                <a:latin typeface="Calibri"/>
              </a:defRPr>
            </a:pPr>
            <a:r>
              <a:t>ACOS: (aspect, category, sentiment, opinion). All four must match.</a:t>
            </a:r>
          </a:p>
          <a:p>
            <a:pPr>
              <a:spcAft>
                <a:spcPts val="800"/>
              </a:spcAft>
              <a:defRPr sz="1800" b="0">
                <a:solidFill>
                  <a:srgbClr val="202B38"/>
                </a:solidFill>
                <a:latin typeface="Calibri"/>
              </a:defRPr>
            </a:pPr>
            <a:r>
              <a:t>AOPE: (aspect, opinion). ASTE adds sentiment. ACSE omits opinion.</a:t>
            </a:r>
          </a:p>
          <a:p>
            <a:pPr>
              <a:spcAft>
                <a:spcPts val="800"/>
              </a:spcAft>
              <a:defRPr sz="1800" b="0">
                <a:solidFill>
                  <a:srgbClr val="202B38"/>
                </a:solidFill>
                <a:latin typeface="Calibri"/>
              </a:defRPr>
            </a:pPr>
            <a:r>
              <a:t>Explicit: neither span is NULL. Implicit: at least one span is NULL.</a:t>
            </a:r>
          </a:p>
          <a:p>
            <a:pPr>
              <a:spcAft>
                <a:spcPts val="800"/>
              </a:spcAft>
              <a:defRPr sz="1800" b="0">
                <a:solidFill>
                  <a:srgbClr val="202B38"/>
                </a:solidFill>
                <a:latin typeface="Calibri"/>
              </a:defRPr>
            </a:pPr>
            <a:r>
              <a:t>ByT5 matches text tuples with multiplicity; pipeline metrics use span-index sets.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847088"/>
            <a:ext cx="5394960" cy="36576"/>
          </a:xfrm>
          <a:prstGeom prst="rect">
            <a:avLst/>
          </a:prstGeom>
          <a:solidFill>
            <a:srgbClr val="B85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011680"/>
            <a:ext cx="539496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B85F24"/>
                </a:solidFill>
                <a:latin typeface="Cambria"/>
              </a:defRPr>
            </a:pPr>
            <a:r>
              <a:t>What must be controlled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660904"/>
            <a:ext cx="539496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02B38"/>
                </a:solidFill>
                <a:latin typeface="Calibri"/>
              </a:defRPr>
            </a:pPr>
            <a:r>
              <a:t>Do not mix 2,963 unique explicit pairs with 2,983 explicit quads or 5,138 total quads.</a:t>
            </a:r>
          </a:p>
          <a:p>
            <a:pPr>
              <a:spcAft>
                <a:spcPts val="800"/>
              </a:spcAft>
              <a:defRPr sz="1800" b="0">
                <a:solidFill>
                  <a:srgbClr val="202B38"/>
                </a:solidFill>
                <a:latin typeface="Calibri"/>
              </a:defRPr>
            </a:pPr>
            <a:r>
              <a:t>Keep strict metrics primary; clitic-normalized scores are a separate diagnostic.</a:t>
            </a:r>
          </a:p>
          <a:p>
            <a:pPr>
              <a:spcAft>
                <a:spcPts val="800"/>
              </a:spcAft>
              <a:defRPr sz="1800" b="0">
                <a:solidFill>
                  <a:srgbClr val="202B38"/>
                </a:solidFill>
                <a:latin typeface="Calibri"/>
              </a:defRPr>
            </a:pPr>
            <a:r>
              <a:t>Report malformed-output and truncation rates; parsing can discard invalid outputs.</a:t>
            </a:r>
          </a:p>
          <a:p>
            <a:pPr>
              <a:spcAft>
                <a:spcPts val="800"/>
              </a:spcAft>
              <a:defRPr sz="1800" b="0">
                <a:solidFill>
                  <a:srgbClr val="202B38"/>
                </a:solidFill>
                <a:latin typeface="Calibri"/>
              </a:defRPr>
            </a:pPr>
            <a:r>
              <a:t>Use dev for thresholds. Report seeds, uncertainty and held-out sample selection.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50040" y="6492240"/>
            <a:ext cx="3474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36777"/>
                </a:solidFill>
                <a:latin typeface="Calibri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LOCAL WORKING-TREE ARTIFACTS | PROVISIONAL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2B38"/>
                </a:solidFill>
                <a:latin typeface="Cambria"/>
              </a:defRPr>
            </a:pPr>
            <a:r>
              <a:t>The 500-Sample Files Are Not an LLM Leaderboard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4358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36777"/>
                </a:solidFill>
                <a:latin typeface="Calibri"/>
              </a:defRPr>
            </a:pPr>
            <a:r>
              <a:t>These files were uncommitted at the audit snapshot. Their provenance limits what can be concluded.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scripts/benchmark_llm_500.py | scripts/llm_benchmark_full_500.py | results/llm_test_500_benchmark.json | results/llm_benchmark_500.json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28800"/>
          <a:ext cx="111556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188720"/>
                <a:gridCol w="1645920"/>
                <a:gridCol w="4846320"/>
              </a:tblGrid>
              <a:tr h="82296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Local artifact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Samples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Strict F1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Interpretation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llm_test_500_benchmark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500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8.02%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100 fixed predictions + 400 rule outputs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llm_benchmark_500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500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1.96%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Only 90 predicted quads; run provenance absent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617720"/>
            <a:ext cx="11155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02B38"/>
                </a:solidFill>
                <a:latin typeface="Calibri"/>
              </a:defRPr>
            </a:pPr>
            <a:r>
              <a:t>The hybrid file reports 8.22% clitic-normalized F1 versus 8.02% strict F1.</a:t>
            </a:r>
          </a:p>
          <a:p>
            <a:pPr>
              <a:spcAft>
                <a:spcPts val="800"/>
              </a:spcAft>
              <a:defRPr sz="1900" b="0">
                <a:solidFill>
                  <a:srgbClr val="202B38"/>
                </a:solidFill>
                <a:latin typeface="Calibri"/>
              </a:defRPr>
            </a:pPr>
            <a:r>
              <a:t>This is not evidence of a ByT5 improvement, independent human agreement, or a controlled external-model comparison.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50040" y="6492240"/>
            <a:ext cx="3474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36777"/>
                </a:solidFill>
                <a:latin typeface="Calibri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CODEBASE AND REPRODUCIBILITY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2B38"/>
                </a:solidFill>
                <a:latin typeface="Cambria"/>
              </a:defRPr>
            </a:pPr>
            <a:r>
              <a:t>What Exists, and What Still Needs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4358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36777"/>
                </a:solidFill>
                <a:latin typeface="Calibri"/>
              </a:defRPr>
            </a:pPr>
            <a:r>
              <a:t>The codebase contains reusable utilities, training/evaluation entry points, configs, metric artifacts and tests.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src/common/ | src/pipeline/ | tests/ | .github/workflows/ci.yml | configs/stage_aope_sdrn_clean.yaml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47088"/>
            <a:ext cx="5394960" cy="36576"/>
          </a:xfrm>
          <a:prstGeom prst="rect">
            <a:avLst/>
          </a:prstGeom>
          <a:solidFill>
            <a:srgbClr val="104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539496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04563"/>
                </a:solidFill>
                <a:latin typeface="Cambria"/>
              </a:defRPr>
            </a:pPr>
            <a:r>
              <a:t>Implemented assets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60904"/>
            <a:ext cx="539496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B38"/>
                </a:solidFill>
                <a:latin typeface="Calibri"/>
              </a:defRPr>
            </a:pPr>
            <a:r>
              <a:t>common/: span alignment, BIO decoding, label priors and shared PairClassifier.</a:t>
            </a:r>
          </a:p>
          <a:p>
            <a:pPr>
              <a:spcAft>
                <a:spcPts val="800"/>
              </a:spcAft>
              <a:defRPr sz="1700" b="0">
                <a:solidFill>
                  <a:srgbClr val="202B38"/>
                </a:solidFill>
                <a:latin typeface="Calibri"/>
              </a:defRPr>
            </a:pPr>
            <a:r>
              <a:t>pipeline/: assembly, inference and explicit/implicit metric views.</a:t>
            </a:r>
          </a:p>
          <a:p>
            <a:pPr>
              <a:spcAft>
                <a:spcPts val="800"/>
              </a:spcAft>
              <a:defRPr sz="1700" b="0">
                <a:solidFill>
                  <a:srgbClr val="202B38"/>
                </a:solidFill>
                <a:latin typeface="Calibri"/>
              </a:defRPr>
            </a:pPr>
            <a:r>
              <a:t>SDRN, Span-ASTE and ByT5 each have their own training and evaluation tools.</a:t>
            </a:r>
          </a:p>
          <a:p>
            <a:pPr>
              <a:spcAft>
                <a:spcPts val="800"/>
              </a:spcAft>
              <a:defRPr sz="1700" b="0">
                <a:solidFill>
                  <a:srgbClr val="202B38"/>
                </a:solidFill>
                <a:latin typeface="Calibri"/>
              </a:defRPr>
            </a:pPr>
            <a:r>
              <a:t>12 test files / 88 test functions; config and result artifacts document run settings.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847088"/>
            <a:ext cx="5394960" cy="36576"/>
          </a:xfrm>
          <a:prstGeom prst="rect">
            <a:avLst/>
          </a:prstGeom>
          <a:solidFill>
            <a:srgbClr val="B85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011680"/>
            <a:ext cx="539496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B85F24"/>
                </a:solidFill>
                <a:latin typeface="Cambria"/>
              </a:defRPr>
            </a:pPr>
            <a:r>
              <a:t>Reproducibility gaps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660904"/>
            <a:ext cx="539496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B38"/>
                </a:solidFill>
                <a:latin typeface="Calibri"/>
              </a:defRPr>
            </a:pPr>
            <a:r>
              <a:t>Lightweight CI does not exercise all Torch/Transformers paths; test count is not a GPU validation claim.</a:t>
            </a:r>
          </a:p>
          <a:p>
            <a:pPr>
              <a:spcAft>
                <a:spcPts val="800"/>
              </a:spcAft>
              <a:defRPr sz="1700" b="0">
                <a:solidFill>
                  <a:srgbClr val="202B38"/>
                </a:solidFill>
                <a:latin typeface="Calibri"/>
              </a:defRPr>
            </a:pPr>
            <a:r>
              <a:t>Some resolved_args files omit the source config path; model checkpoints are not included.</a:t>
            </a:r>
          </a:p>
          <a:p>
            <a:pPr>
              <a:spcAft>
                <a:spcPts val="800"/>
              </a:spcAft>
              <a:defRPr sz="1700" b="0">
                <a:solidFill>
                  <a:srgbClr val="202B38"/>
                </a:solidFill>
                <a:latin typeface="Calibri"/>
              </a:defRPr>
            </a:pPr>
            <a:r>
              <a:t>Clean SDRN config reuses the old run output directory: choose a new one before retraining.</a:t>
            </a:r>
          </a:p>
          <a:p>
            <a:pPr>
              <a:spcAft>
                <a:spcPts val="800"/>
              </a:spcAft>
              <a:defRPr sz="1700" b="0">
                <a:solidFill>
                  <a:srgbClr val="202B38"/>
                </a:solidFill>
                <a:latin typeface="Calibri"/>
              </a:defRPr>
            </a:pPr>
            <a:r>
              <a:t>No clean-data or ByT5 Run 2 metric artifact is present.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50040" y="6492240"/>
            <a:ext cx="3474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36777"/>
                </a:solidFill>
                <a:latin typeface="Calibri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CURRENT ROADMAP | EVIDENCE-RANKED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2B38"/>
                </a:solidFill>
                <a:latin typeface="Cambria"/>
              </a:defRPr>
            </a:pPr>
            <a:r>
              <a:t>Data and Evaluation Before Another Scale-Up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4358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36777"/>
                </a:solidFill>
                <a:latin typeface="Calibri"/>
              </a:defRPr>
            </a:pPr>
            <a:r>
              <a:t>Completed implementation is not the same as a completed experiment or a validated research claim.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GitHub #100 | GitHub #101 | GitHub #103 | GitHub #104 | GitHub #105 | configs/stage_byt5_acos_run2.yaml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28800"/>
          <a:ext cx="11155680" cy="3785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4846320"/>
                <a:gridCol w="4572000"/>
              </a:tblGrid>
              <a:tr h="630936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Priority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Next action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Evidence of completion needed</a:t>
                      </a:r>
                    </a:p>
                  </a:txBody>
                  <a:tcPr anchor="ctr" marL="109728" marR="91440" marT="36576" marB="36576">
                    <a:solidFill>
                      <a:srgbClr val="104563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1. Data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Reconcile taxonomy; human-audit a held-out sample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Adjudicated labels and per-field agreement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2. Correctness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Repair FSM delimiter and structural-byte paths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Full-sequence generation and parser regression tests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3. Experiment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Run clean-data baselines in fresh output folders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Same splits, checkpoints and decoding protocol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4. Ablation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Isolate canonical order, smoothing and constraints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Dev-selected settings; multiple seeds / uncertainty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5. Exploration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Curriculum training or larger ByT5 + LoRA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Measured gains, resource cost and failure analysis</a:t>
                      </a:r>
                    </a:p>
                  </a:txBody>
                  <a:tcPr anchor="ctr" marL="109728" marR="91440" marT="36576" marB="36576">
                    <a:solidFill>
                      <a:srgbClr val="EAF2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77900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4563"/>
                </a:solidFill>
                <a:latin typeface="Calibri"/>
              </a:defRPr>
            </a:pPr>
            <a:r>
              <a:t>Already implemented: data cleaning, word-level SDRN, span pooling, canonical ordering, label smoothing, decoder scaffold and clitic diagnostics.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50040" y="6492240"/>
            <a:ext cx="3474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36777"/>
                </a:solidFill>
                <a:latin typeface="Calibri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COVERAGE AND SOURCE TRACEABILITY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2B38"/>
                </a:solidFill>
                <a:latin typeface="Cambria"/>
              </a:defRPr>
            </a:pPr>
            <a:r>
              <a:t>Repository-Wide Review Behind This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4358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36777"/>
                </a:solidFill>
                <a:latin typeface="Calibri"/>
              </a:defRPr>
            </a:pPr>
            <a:r>
              <a:t>All 66 PRs and 39 issues were inventoried across open and closed states through #105.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GitHub #105 | docs/presentation_v4_audit.md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47088"/>
            <a:ext cx="5394960" cy="36576"/>
          </a:xfrm>
          <a:prstGeom prst="rect">
            <a:avLst/>
          </a:prstGeom>
          <a:solidFill>
            <a:srgbClr val="104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539496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04563"/>
                </a:solidFill>
                <a:latin typeface="Cambria"/>
              </a:defRPr>
            </a:pPr>
            <a:r>
              <a:t>Review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60904"/>
            <a:ext cx="539496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B38"/>
                </a:solidFill>
                <a:latin typeface="Calibri"/>
              </a:defRPr>
            </a:pPr>
            <a:r>
              <a:t>65 merged PRs; PR #9 closed unmerged. All 39 issues are closed at the snapshot.</a:t>
            </a:r>
          </a:p>
          <a:p>
            <a:pPr>
              <a:spcAft>
                <a:spcPts val="800"/>
              </a:spcAft>
              <a:defRPr sz="1700" b="0">
                <a:solidFill>
                  <a:srgbClr val="202B38"/>
                </a:solidFill>
                <a:latin typeface="Calibri"/>
              </a:defRPr>
            </a:pPr>
            <a:r>
              <a:t>GitHub records include 73 conversation comments, 26 reviews and 43 inline comments.</a:t>
            </a:r>
          </a:p>
          <a:p>
            <a:pPr>
              <a:spcAft>
                <a:spcPts val="800"/>
              </a:spcAft>
              <a:defRPr sz="1700" b="0">
                <a:solidFill>
                  <a:srgbClr val="202B38"/>
                </a:solidFill>
                <a:latin typeface="Calibri"/>
              </a:defRPr>
            </a:pPr>
            <a:r>
              <a:t>Source families: common, pipeline, Stages 1-5, SDRN, Span-ASTE and ByT5; data, configs, notebooks and tests.</a:t>
            </a:r>
          </a:p>
          <a:p>
            <a:pPr>
              <a:spcAft>
                <a:spcPts val="800"/>
              </a:spcAft>
              <a:defRPr sz="1700" b="0">
                <a:solidFill>
                  <a:srgbClr val="202B38"/>
                </a:solidFill>
                <a:latin typeface="Calibri"/>
              </a:defRPr>
            </a:pPr>
            <a:r>
              <a:t>Original v3.0 is retained unchanged. Source links are included in slide notes.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847088"/>
            <a:ext cx="5394960" cy="36576"/>
          </a:xfrm>
          <a:prstGeom prst="rect">
            <a:avLst/>
          </a:prstGeom>
          <a:solidFill>
            <a:srgbClr val="B85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011680"/>
            <a:ext cx="539496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B85F24"/>
                </a:solidFill>
                <a:latin typeface="Cambria"/>
              </a:defRPr>
            </a:pPr>
            <a:r>
              <a:t>Evidence 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660904"/>
            <a:ext cx="539496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B38"/>
                </a:solidFill>
                <a:latin typeface="Calibri"/>
              </a:defRPr>
            </a:pPr>
            <a:r>
              <a:t>Prefer actual metric JSON and resolved arguments over narrative summaries.</a:t>
            </a:r>
          </a:p>
          <a:p>
            <a:pPr>
              <a:spcAft>
                <a:spcPts val="800"/>
              </a:spcAft>
              <a:defRPr sz="1700" b="0">
                <a:solidFill>
                  <a:srgbClr val="202B38"/>
                </a:solidFill>
                <a:latin typeface="Calibri"/>
              </a:defRPr>
            </a:pPr>
            <a:r>
              <a:t>Identify conflicting artifacts instead of silently combining their numbers.</a:t>
            </a:r>
          </a:p>
          <a:p>
            <a:pPr>
              <a:spcAft>
                <a:spcPts val="800"/>
              </a:spcAft>
              <a:defRPr sz="1700" b="0">
                <a:solidFill>
                  <a:srgbClr val="202B38"/>
                </a:solidFill>
                <a:latin typeface="Calibri"/>
              </a:defRPr>
            </a:pPr>
            <a:r>
              <a:t>Do not promote local rule-based outputs to measured LLM performance.</a:t>
            </a:r>
          </a:p>
          <a:p>
            <a:pPr>
              <a:spcAft>
                <a:spcPts val="800"/>
              </a:spcAft>
              <a:defRPr sz="1700" b="0">
                <a:solidFill>
                  <a:srgbClr val="202B38"/>
                </a:solidFill>
                <a:latin typeface="Calibri"/>
              </a:defRPr>
            </a:pPr>
            <a:r>
              <a:t>A companion audit maps every issue/PR and lists corrections, additions and verification limits.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50040" y="6492240"/>
            <a:ext cx="3474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36777"/>
                </a:solidFill>
                <a:latin typeface="Calibri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2026-09-26T03:44:50Z</dcterms:created>
  <dcterms:modified xsi:type="dcterms:W3CDTF">2026-09-26T03:44:50Z</dcterms:modified>
</cp:coreProperties>
</file>